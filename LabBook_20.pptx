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8"/>
  </p:notesMasterIdLst>
  <p:handoutMasterIdLst>
    <p:handoutMasterId r:id="rId29"/>
  </p:handoutMasterIdLst>
  <p:sldIdLst>
    <p:sldId id="256" r:id="rId2"/>
    <p:sldId id="289" r:id="rId3"/>
    <p:sldId id="295" r:id="rId4"/>
    <p:sldId id="304" r:id="rId5"/>
    <p:sldId id="305" r:id="rId6"/>
    <p:sldId id="306" r:id="rId7"/>
    <p:sldId id="307" r:id="rId8"/>
    <p:sldId id="303" r:id="rId9"/>
    <p:sldId id="310" r:id="rId10"/>
    <p:sldId id="311" r:id="rId11"/>
    <p:sldId id="312" r:id="rId12"/>
    <p:sldId id="291" r:id="rId13"/>
    <p:sldId id="313" r:id="rId14"/>
    <p:sldId id="296" r:id="rId15"/>
    <p:sldId id="293" r:id="rId16"/>
    <p:sldId id="314" r:id="rId17"/>
    <p:sldId id="315" r:id="rId18"/>
    <p:sldId id="294" r:id="rId19"/>
    <p:sldId id="299" r:id="rId20"/>
    <p:sldId id="300" r:id="rId21"/>
    <p:sldId id="301" r:id="rId22"/>
    <p:sldId id="290" r:id="rId23"/>
    <p:sldId id="297" r:id="rId24"/>
    <p:sldId id="292" r:id="rId25"/>
    <p:sldId id="298" r:id="rId26"/>
    <p:sldId id="288" r:id="rId27"/>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706B2-AA95-4CDC-834C-F4D908C80230}" v="95" dt="2025-02-09T23:48:29.2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82" d="100"/>
          <a:sy n="82" d="100"/>
        </p:scale>
        <p:origin x="1142"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83A706B2-AA95-4CDC-834C-F4D908C80230}"/>
    <pc:docChg chg="undo redo custSel addSld delSld modSld">
      <pc:chgData name="Christian Camilo Cano Vasquez" userId="8c73a2a4-758b-4e34-81ed-39462e48bd92" providerId="ADAL" clId="{83A706B2-AA95-4CDC-834C-F4D908C80230}" dt="2025-02-10T11:46:25.185" v="655" actId="20577"/>
      <pc:docMkLst>
        <pc:docMk/>
      </pc:docMkLst>
      <pc:sldChg chg="modSp mod">
        <pc:chgData name="Christian Camilo Cano Vasquez" userId="8c73a2a4-758b-4e34-81ed-39462e48bd92" providerId="ADAL" clId="{83A706B2-AA95-4CDC-834C-F4D908C80230}" dt="2025-02-09T23:21:47.550" v="170" actId="20577"/>
        <pc:sldMkLst>
          <pc:docMk/>
          <pc:sldMk cId="0" sldId="256"/>
        </pc:sldMkLst>
        <pc:spChg chg="mod">
          <ac:chgData name="Christian Camilo Cano Vasquez" userId="8c73a2a4-758b-4e34-81ed-39462e48bd92" providerId="ADAL" clId="{83A706B2-AA95-4CDC-834C-F4D908C80230}" dt="2025-02-09T23:21:47.550" v="170" actId="20577"/>
          <ac:spMkLst>
            <pc:docMk/>
            <pc:sldMk cId="0" sldId="256"/>
            <ac:spMk id="3" creationId="{00000000-0000-0000-0000-000000000000}"/>
          </ac:spMkLst>
        </pc:spChg>
      </pc:sldChg>
      <pc:sldChg chg="modSp mod">
        <pc:chgData name="Christian Camilo Cano Vasquez" userId="8c73a2a4-758b-4e34-81ed-39462e48bd92" providerId="ADAL" clId="{83A706B2-AA95-4CDC-834C-F4D908C80230}" dt="2025-02-09T22:54:55.862" v="0" actId="20577"/>
        <pc:sldMkLst>
          <pc:docMk/>
          <pc:sldMk cId="560234623" sldId="289"/>
        </pc:sldMkLst>
        <pc:spChg chg="mod">
          <ac:chgData name="Christian Camilo Cano Vasquez" userId="8c73a2a4-758b-4e34-81ed-39462e48bd92" providerId="ADAL" clId="{83A706B2-AA95-4CDC-834C-F4D908C80230}" dt="2025-02-09T22:54:55.862" v="0" actId="20577"/>
          <ac:spMkLst>
            <pc:docMk/>
            <pc:sldMk cId="560234623" sldId="289"/>
            <ac:spMk id="4" creationId="{9F7BC140-B3D8-C3CB-55AD-9064C7CDE9CA}"/>
          </ac:spMkLst>
        </pc:spChg>
      </pc:sldChg>
      <pc:sldChg chg="addSp delSp modSp mod">
        <pc:chgData name="Christian Camilo Cano Vasquez" userId="8c73a2a4-758b-4e34-81ed-39462e48bd92" providerId="ADAL" clId="{83A706B2-AA95-4CDC-834C-F4D908C80230}" dt="2025-02-09T23:24:42.493" v="173" actId="20577"/>
        <pc:sldMkLst>
          <pc:docMk/>
          <pc:sldMk cId="730501311" sldId="290"/>
        </pc:sldMkLst>
        <pc:spChg chg="mod">
          <ac:chgData name="Christian Camilo Cano Vasquez" userId="8c73a2a4-758b-4e34-81ed-39462e48bd92" providerId="ADAL" clId="{83A706B2-AA95-4CDC-834C-F4D908C80230}" dt="2025-02-09T23:04:13.626" v="39" actId="20577"/>
          <ac:spMkLst>
            <pc:docMk/>
            <pc:sldMk cId="730501311" sldId="290"/>
            <ac:spMk id="2" creationId="{D0F8CF3B-B920-DBFC-F825-0C87B51EADA7}"/>
          </ac:spMkLst>
        </pc:spChg>
        <pc:spChg chg="del">
          <ac:chgData name="Christian Camilo Cano Vasquez" userId="8c73a2a4-758b-4e34-81ed-39462e48bd92" providerId="ADAL" clId="{83A706B2-AA95-4CDC-834C-F4D908C80230}" dt="2025-02-09T22:59:02.631" v="2" actId="478"/>
          <ac:spMkLst>
            <pc:docMk/>
            <pc:sldMk cId="730501311" sldId="290"/>
            <ac:spMk id="4" creationId="{AA9E72FF-B948-6B7A-8909-97C6BE95D6FB}"/>
          </ac:spMkLst>
        </pc:spChg>
        <pc:spChg chg="add mod">
          <ac:chgData name="Christian Camilo Cano Vasquez" userId="8c73a2a4-758b-4e34-81ed-39462e48bd92" providerId="ADAL" clId="{83A706B2-AA95-4CDC-834C-F4D908C80230}" dt="2025-02-09T23:00:11.400" v="3"/>
          <ac:spMkLst>
            <pc:docMk/>
            <pc:sldMk cId="730501311" sldId="290"/>
            <ac:spMk id="5" creationId="{E7488849-10A1-FB48-F511-E57B062CD7E2}"/>
          </ac:spMkLst>
        </pc:spChg>
        <pc:spChg chg="add mod">
          <ac:chgData name="Christian Camilo Cano Vasquez" userId="8c73a2a4-758b-4e34-81ed-39462e48bd92" providerId="ADAL" clId="{83A706B2-AA95-4CDC-834C-F4D908C80230}" dt="2025-02-09T23:00:11.400" v="3"/>
          <ac:spMkLst>
            <pc:docMk/>
            <pc:sldMk cId="730501311" sldId="290"/>
            <ac:spMk id="6" creationId="{68726DAB-1B5F-39D1-63A0-BB708EA6E17F}"/>
          </ac:spMkLst>
        </pc:spChg>
        <pc:spChg chg="add mod">
          <ac:chgData name="Christian Camilo Cano Vasquez" userId="8c73a2a4-758b-4e34-81ed-39462e48bd92" providerId="ADAL" clId="{83A706B2-AA95-4CDC-834C-F4D908C80230}" dt="2025-02-09T23:00:11.400" v="3"/>
          <ac:spMkLst>
            <pc:docMk/>
            <pc:sldMk cId="730501311" sldId="290"/>
            <ac:spMk id="7" creationId="{6D309BFB-98FD-0CBA-3C6A-346D8859893B}"/>
          </ac:spMkLst>
        </pc:spChg>
        <pc:spChg chg="add mod">
          <ac:chgData name="Christian Camilo Cano Vasquez" userId="8c73a2a4-758b-4e34-81ed-39462e48bd92" providerId="ADAL" clId="{83A706B2-AA95-4CDC-834C-F4D908C80230}" dt="2025-02-09T23:02:26.970" v="32" actId="20577"/>
          <ac:spMkLst>
            <pc:docMk/>
            <pc:sldMk cId="730501311" sldId="290"/>
            <ac:spMk id="8" creationId="{E9BD6C85-02F1-7B54-41E3-E3D9883786D8}"/>
          </ac:spMkLst>
        </pc:spChg>
        <pc:spChg chg="add mod">
          <ac:chgData name="Christian Camilo Cano Vasquez" userId="8c73a2a4-758b-4e34-81ed-39462e48bd92" providerId="ADAL" clId="{83A706B2-AA95-4CDC-834C-F4D908C80230}" dt="2025-02-09T23:02:32.780" v="33"/>
          <ac:spMkLst>
            <pc:docMk/>
            <pc:sldMk cId="730501311" sldId="290"/>
            <ac:spMk id="9" creationId="{7431A41C-EEB3-44D0-4622-A915E258C8F0}"/>
          </ac:spMkLst>
        </pc:spChg>
        <pc:spChg chg="mod">
          <ac:chgData name="Christian Camilo Cano Vasquez" userId="8c73a2a4-758b-4e34-81ed-39462e48bd92" providerId="ADAL" clId="{83A706B2-AA95-4CDC-834C-F4D908C80230}" dt="2025-02-09T23:24:42.493" v="173" actId="20577"/>
          <ac:spMkLst>
            <pc:docMk/>
            <pc:sldMk cId="730501311" sldId="290"/>
            <ac:spMk id="16" creationId="{471E1424-6C4B-2D9A-1352-30AFB987AD41}"/>
          </ac:spMkLst>
        </pc:spChg>
      </pc:sldChg>
      <pc:sldChg chg="addSp delSp modSp mod">
        <pc:chgData name="Christian Camilo Cano Vasquez" userId="8c73a2a4-758b-4e34-81ed-39462e48bd92" providerId="ADAL" clId="{83A706B2-AA95-4CDC-834C-F4D908C80230}" dt="2025-02-09T23:24:47.352" v="175" actId="20577"/>
        <pc:sldMkLst>
          <pc:docMk/>
          <pc:sldMk cId="3712356003" sldId="291"/>
        </pc:sldMkLst>
        <pc:spChg chg="mod">
          <ac:chgData name="Christian Camilo Cano Vasquez" userId="8c73a2a4-758b-4e34-81ed-39462e48bd92" providerId="ADAL" clId="{83A706B2-AA95-4CDC-834C-F4D908C80230}" dt="2025-02-09T23:15:16.003" v="106" actId="20577"/>
          <ac:spMkLst>
            <pc:docMk/>
            <pc:sldMk cId="3712356003" sldId="291"/>
            <ac:spMk id="2" creationId="{CA5F0FDF-2A95-453B-4ECA-AEB637FF2694}"/>
          </ac:spMkLst>
        </pc:spChg>
        <pc:spChg chg="add mod">
          <ac:chgData name="Christian Camilo Cano Vasquez" userId="8c73a2a4-758b-4e34-81ed-39462e48bd92" providerId="ADAL" clId="{83A706B2-AA95-4CDC-834C-F4D908C80230}" dt="2025-02-09T23:14:26.914" v="81" actId="1035"/>
          <ac:spMkLst>
            <pc:docMk/>
            <pc:sldMk cId="3712356003" sldId="291"/>
            <ac:spMk id="4" creationId="{FB4B77A0-B37C-3130-FB52-4E560C66946F}"/>
          </ac:spMkLst>
        </pc:spChg>
        <pc:spChg chg="add mod">
          <ac:chgData name="Christian Camilo Cano Vasquez" userId="8c73a2a4-758b-4e34-81ed-39462e48bd92" providerId="ADAL" clId="{83A706B2-AA95-4CDC-834C-F4D908C80230}" dt="2025-02-09T23:14:26.914" v="81" actId="1035"/>
          <ac:spMkLst>
            <pc:docMk/>
            <pc:sldMk cId="3712356003" sldId="291"/>
            <ac:spMk id="5" creationId="{DA7ECAA3-0876-C0FB-D7E5-448FCC5ED226}"/>
          </ac:spMkLst>
        </pc:spChg>
        <pc:spChg chg="del">
          <ac:chgData name="Christian Camilo Cano Vasquez" userId="8c73a2a4-758b-4e34-81ed-39462e48bd92" providerId="ADAL" clId="{83A706B2-AA95-4CDC-834C-F4D908C80230}" dt="2025-02-09T23:09:07.294" v="48" actId="478"/>
          <ac:spMkLst>
            <pc:docMk/>
            <pc:sldMk cId="3712356003" sldId="291"/>
            <ac:spMk id="7" creationId="{21F754A5-65BC-14A3-5F55-75716FFA9027}"/>
          </ac:spMkLst>
        </pc:spChg>
        <pc:spChg chg="del">
          <ac:chgData name="Christian Camilo Cano Vasquez" userId="8c73a2a4-758b-4e34-81ed-39462e48bd92" providerId="ADAL" clId="{83A706B2-AA95-4CDC-834C-F4D908C80230}" dt="2025-02-09T23:09:11.050" v="49" actId="478"/>
          <ac:spMkLst>
            <pc:docMk/>
            <pc:sldMk cId="3712356003" sldId="291"/>
            <ac:spMk id="8" creationId="{CD9C65D4-5494-F5CE-1094-CB0A32C33876}"/>
          </ac:spMkLst>
        </pc:spChg>
        <pc:spChg chg="add mod">
          <ac:chgData name="Christian Camilo Cano Vasquez" userId="8c73a2a4-758b-4e34-81ed-39462e48bd92" providerId="ADAL" clId="{83A706B2-AA95-4CDC-834C-F4D908C80230}" dt="2025-02-09T23:14:26.914" v="81" actId="1035"/>
          <ac:spMkLst>
            <pc:docMk/>
            <pc:sldMk cId="3712356003" sldId="291"/>
            <ac:spMk id="9" creationId="{C1467207-8D05-D4C6-EBD2-209F796AE977}"/>
          </ac:spMkLst>
        </pc:spChg>
        <pc:spChg chg="add mod">
          <ac:chgData name="Christian Camilo Cano Vasquez" userId="8c73a2a4-758b-4e34-81ed-39462e48bd92" providerId="ADAL" clId="{83A706B2-AA95-4CDC-834C-F4D908C80230}" dt="2025-02-09T23:14:26.914" v="81" actId="1035"/>
          <ac:spMkLst>
            <pc:docMk/>
            <pc:sldMk cId="3712356003" sldId="291"/>
            <ac:spMk id="10" creationId="{32E39C0C-95E1-ED90-891A-5D634D9DB76B}"/>
          </ac:spMkLst>
        </pc:spChg>
        <pc:spChg chg="mod">
          <ac:chgData name="Christian Camilo Cano Vasquez" userId="8c73a2a4-758b-4e34-81ed-39462e48bd92" providerId="ADAL" clId="{83A706B2-AA95-4CDC-834C-F4D908C80230}" dt="2025-02-09T23:24:47.352" v="175" actId="20577"/>
          <ac:spMkLst>
            <pc:docMk/>
            <pc:sldMk cId="3712356003" sldId="291"/>
            <ac:spMk id="16" creationId="{5431EA70-9578-8BF1-5A05-77CDC26788B4}"/>
          </ac:spMkLst>
        </pc:spChg>
        <pc:picChg chg="del">
          <ac:chgData name="Christian Camilo Cano Vasquez" userId="8c73a2a4-758b-4e34-81ed-39462e48bd92" providerId="ADAL" clId="{83A706B2-AA95-4CDC-834C-F4D908C80230}" dt="2025-02-09T23:08:10.270" v="47" actId="478"/>
          <ac:picMkLst>
            <pc:docMk/>
            <pc:sldMk cId="3712356003" sldId="291"/>
            <ac:picMk id="6" creationId="{380A8455-6386-C7D5-7BB6-B79D8D91F0EF}"/>
          </ac:picMkLst>
        </pc:picChg>
      </pc:sldChg>
      <pc:sldChg chg="addSp delSp modSp mod">
        <pc:chgData name="Christian Camilo Cano Vasquez" userId="8c73a2a4-758b-4e34-81ed-39462e48bd92" providerId="ADAL" clId="{83A706B2-AA95-4CDC-834C-F4D908C80230}" dt="2025-02-09T23:31:23.910" v="296" actId="20577"/>
        <pc:sldMkLst>
          <pc:docMk/>
          <pc:sldMk cId="2900117438" sldId="292"/>
        </pc:sldMkLst>
        <pc:spChg chg="mod">
          <ac:chgData name="Christian Camilo Cano Vasquez" userId="8c73a2a4-758b-4e34-81ed-39462e48bd92" providerId="ADAL" clId="{83A706B2-AA95-4CDC-834C-F4D908C80230}" dt="2025-02-09T23:31:23.910" v="296" actId="20577"/>
          <ac:spMkLst>
            <pc:docMk/>
            <pc:sldMk cId="2900117438" sldId="292"/>
            <ac:spMk id="2" creationId="{82A62DD6-5488-72A1-9926-0CAEE59089A9}"/>
          </ac:spMkLst>
        </pc:spChg>
        <pc:spChg chg="add mod">
          <ac:chgData name="Christian Camilo Cano Vasquez" userId="8c73a2a4-758b-4e34-81ed-39462e48bd92" providerId="ADAL" clId="{83A706B2-AA95-4CDC-834C-F4D908C80230}" dt="2025-02-09T23:30:25.991" v="253"/>
          <ac:spMkLst>
            <pc:docMk/>
            <pc:sldMk cId="2900117438" sldId="292"/>
            <ac:spMk id="4" creationId="{796EDE51-D41E-C23B-F402-2F7357DE8714}"/>
          </ac:spMkLst>
        </pc:spChg>
        <pc:spChg chg="add mod">
          <ac:chgData name="Christian Camilo Cano Vasquez" userId="8c73a2a4-758b-4e34-81ed-39462e48bd92" providerId="ADAL" clId="{83A706B2-AA95-4CDC-834C-F4D908C80230}" dt="2025-02-09T23:30:25.991" v="253"/>
          <ac:spMkLst>
            <pc:docMk/>
            <pc:sldMk cId="2900117438" sldId="292"/>
            <ac:spMk id="5" creationId="{5A3233C9-FE6F-52D8-4D87-224222BDA8E1}"/>
          </ac:spMkLst>
        </pc:spChg>
        <pc:spChg chg="add mod">
          <ac:chgData name="Christian Camilo Cano Vasquez" userId="8c73a2a4-758b-4e34-81ed-39462e48bd92" providerId="ADAL" clId="{83A706B2-AA95-4CDC-834C-F4D908C80230}" dt="2025-02-09T23:30:25.991" v="253"/>
          <ac:spMkLst>
            <pc:docMk/>
            <pc:sldMk cId="2900117438" sldId="292"/>
            <ac:spMk id="6" creationId="{0C016548-01A2-6E58-B80D-148384B98EB3}"/>
          </ac:spMkLst>
        </pc:spChg>
        <pc:spChg chg="del">
          <ac:chgData name="Christian Camilo Cano Vasquez" userId="8c73a2a4-758b-4e34-81ed-39462e48bd92" providerId="ADAL" clId="{83A706B2-AA95-4CDC-834C-F4D908C80230}" dt="2025-02-09T23:30:21.832" v="251" actId="478"/>
          <ac:spMkLst>
            <pc:docMk/>
            <pc:sldMk cId="2900117438" sldId="292"/>
            <ac:spMk id="7" creationId="{FBC7D187-267A-ADD4-764C-D3820B8ED302}"/>
          </ac:spMkLst>
        </pc:spChg>
        <pc:spChg chg="del">
          <ac:chgData name="Christian Camilo Cano Vasquez" userId="8c73a2a4-758b-4e34-81ed-39462e48bd92" providerId="ADAL" clId="{83A706B2-AA95-4CDC-834C-F4D908C80230}" dt="2025-02-09T23:30:25.360" v="252" actId="478"/>
          <ac:spMkLst>
            <pc:docMk/>
            <pc:sldMk cId="2900117438" sldId="292"/>
            <ac:spMk id="8" creationId="{1EF5BFDA-8EC1-8C73-A932-F36C4DB93C73}"/>
          </ac:spMkLst>
        </pc:spChg>
        <pc:spChg chg="add mod">
          <ac:chgData name="Christian Camilo Cano Vasquez" userId="8c73a2a4-758b-4e34-81ed-39462e48bd92" providerId="ADAL" clId="{83A706B2-AA95-4CDC-834C-F4D908C80230}" dt="2025-02-09T23:30:25.991" v="253"/>
          <ac:spMkLst>
            <pc:docMk/>
            <pc:sldMk cId="2900117438" sldId="292"/>
            <ac:spMk id="9" creationId="{075D03BE-0D6A-89E5-3C68-D7BD97B4676E}"/>
          </ac:spMkLst>
        </pc:spChg>
        <pc:spChg chg="add mod">
          <ac:chgData name="Christian Camilo Cano Vasquez" userId="8c73a2a4-758b-4e34-81ed-39462e48bd92" providerId="ADAL" clId="{83A706B2-AA95-4CDC-834C-F4D908C80230}" dt="2025-02-09T23:30:25.991" v="253"/>
          <ac:spMkLst>
            <pc:docMk/>
            <pc:sldMk cId="2900117438" sldId="292"/>
            <ac:spMk id="10" creationId="{AC01EDEE-71CC-C570-700B-076F03FCF7E1}"/>
          </ac:spMkLst>
        </pc:spChg>
        <pc:spChg chg="mod">
          <ac:chgData name="Christian Camilo Cano Vasquez" userId="8c73a2a4-758b-4e34-81ed-39462e48bd92" providerId="ADAL" clId="{83A706B2-AA95-4CDC-834C-F4D908C80230}" dt="2025-02-09T23:29:51.940" v="250" actId="20577"/>
          <ac:spMkLst>
            <pc:docMk/>
            <pc:sldMk cId="2900117438" sldId="292"/>
            <ac:spMk id="16" creationId="{6AA2E789-F7AE-F068-274C-E0F13A22DBCA}"/>
          </ac:spMkLst>
        </pc:spChg>
      </pc:sldChg>
      <pc:sldChg chg="del">
        <pc:chgData name="Christian Camilo Cano Vasquez" userId="8c73a2a4-758b-4e34-81ed-39462e48bd92" providerId="ADAL" clId="{83A706B2-AA95-4CDC-834C-F4D908C80230}" dt="2025-02-09T23:36:40.142" v="343" actId="47"/>
        <pc:sldMkLst>
          <pc:docMk/>
          <pc:sldMk cId="3660438245" sldId="293"/>
        </pc:sldMkLst>
      </pc:sldChg>
      <pc:sldChg chg="addSp delSp modSp mod">
        <pc:chgData name="Christian Camilo Cano Vasquez" userId="8c73a2a4-758b-4e34-81ed-39462e48bd92" providerId="ADAL" clId="{83A706B2-AA95-4CDC-834C-F4D908C80230}" dt="2025-02-09T23:43:58.113" v="517" actId="20577"/>
        <pc:sldMkLst>
          <pc:docMk/>
          <pc:sldMk cId="2815679427" sldId="294"/>
        </pc:sldMkLst>
        <pc:spChg chg="add del mod">
          <ac:chgData name="Christian Camilo Cano Vasquez" userId="8c73a2a4-758b-4e34-81ed-39462e48bd92" providerId="ADAL" clId="{83A706B2-AA95-4CDC-834C-F4D908C80230}" dt="2025-02-09T23:39:50.840" v="385" actId="20577"/>
          <ac:spMkLst>
            <pc:docMk/>
            <pc:sldMk cId="2815679427" sldId="294"/>
            <ac:spMk id="2" creationId="{B5029729-ADF3-3B30-4FF9-83BE1DB82BD7}"/>
          </ac:spMkLst>
        </pc:spChg>
        <pc:spChg chg="add mod">
          <ac:chgData name="Christian Camilo Cano Vasquez" userId="8c73a2a4-758b-4e34-81ed-39462e48bd92" providerId="ADAL" clId="{83A706B2-AA95-4CDC-834C-F4D908C80230}" dt="2025-02-09T23:38:32.744" v="355" actId="1076"/>
          <ac:spMkLst>
            <pc:docMk/>
            <pc:sldMk cId="2815679427" sldId="294"/>
            <ac:spMk id="4" creationId="{06A90612-6654-786D-6F6A-F4EA67014379}"/>
          </ac:spMkLst>
        </pc:spChg>
        <pc:spChg chg="add mod">
          <ac:chgData name="Christian Camilo Cano Vasquez" userId="8c73a2a4-758b-4e34-81ed-39462e48bd92" providerId="ADAL" clId="{83A706B2-AA95-4CDC-834C-F4D908C80230}" dt="2025-02-09T23:38:32.744" v="355" actId="1076"/>
          <ac:spMkLst>
            <pc:docMk/>
            <pc:sldMk cId="2815679427" sldId="294"/>
            <ac:spMk id="5" creationId="{5032AC03-DEF1-DAF0-236E-A42778A7A062}"/>
          </ac:spMkLst>
        </pc:spChg>
        <pc:spChg chg="add mod">
          <ac:chgData name="Christian Camilo Cano Vasquez" userId="8c73a2a4-758b-4e34-81ed-39462e48bd92" providerId="ADAL" clId="{83A706B2-AA95-4CDC-834C-F4D908C80230}" dt="2025-02-09T23:37:46.370" v="351"/>
          <ac:spMkLst>
            <pc:docMk/>
            <pc:sldMk cId="2815679427" sldId="294"/>
            <ac:spMk id="6" creationId="{3338A34B-BF11-73AC-D891-565FD218C2F6}"/>
          </ac:spMkLst>
        </pc:spChg>
        <pc:spChg chg="add del mod">
          <ac:chgData name="Christian Camilo Cano Vasquez" userId="8c73a2a4-758b-4e34-81ed-39462e48bd92" providerId="ADAL" clId="{83A706B2-AA95-4CDC-834C-F4D908C80230}" dt="2025-02-09T23:39:04.073" v="372" actId="1036"/>
          <ac:spMkLst>
            <pc:docMk/>
            <pc:sldMk cId="2815679427" sldId="294"/>
            <ac:spMk id="7" creationId="{98DE5FDA-4E91-E843-E84A-1467BFAA9986}"/>
          </ac:spMkLst>
        </pc:spChg>
        <pc:spChg chg="add del mod">
          <ac:chgData name="Christian Camilo Cano Vasquez" userId="8c73a2a4-758b-4e34-81ed-39462e48bd92" providerId="ADAL" clId="{83A706B2-AA95-4CDC-834C-F4D908C80230}" dt="2025-02-09T23:43:58.113" v="517" actId="20577"/>
          <ac:spMkLst>
            <pc:docMk/>
            <pc:sldMk cId="2815679427" sldId="294"/>
            <ac:spMk id="8" creationId="{0DA14DBA-172E-DA2C-0573-6A00BF18F4A5}"/>
          </ac:spMkLst>
        </pc:spChg>
        <pc:spChg chg="add mod">
          <ac:chgData name="Christian Camilo Cano Vasquez" userId="8c73a2a4-758b-4e34-81ed-39462e48bd92" providerId="ADAL" clId="{83A706B2-AA95-4CDC-834C-F4D908C80230}" dt="2025-02-09T23:38:32.744" v="355" actId="1076"/>
          <ac:spMkLst>
            <pc:docMk/>
            <pc:sldMk cId="2815679427" sldId="294"/>
            <ac:spMk id="9" creationId="{4D1551B0-A822-E426-5721-B1FC37702FCB}"/>
          </ac:spMkLst>
        </pc:spChg>
        <pc:spChg chg="add mod">
          <ac:chgData name="Christian Camilo Cano Vasquez" userId="8c73a2a4-758b-4e34-81ed-39462e48bd92" providerId="ADAL" clId="{83A706B2-AA95-4CDC-834C-F4D908C80230}" dt="2025-02-09T23:38:32.744" v="355" actId="1076"/>
          <ac:spMkLst>
            <pc:docMk/>
            <pc:sldMk cId="2815679427" sldId="294"/>
            <ac:spMk id="11" creationId="{EFED69C0-44A5-9995-03AC-A48118DEE677}"/>
          </ac:spMkLst>
        </pc:spChg>
        <pc:spChg chg="mod">
          <ac:chgData name="Christian Camilo Cano Vasquez" userId="8c73a2a4-758b-4e34-81ed-39462e48bd92" providerId="ADAL" clId="{83A706B2-AA95-4CDC-834C-F4D908C80230}" dt="2025-02-09T23:38:57.830" v="367" actId="20577"/>
          <ac:spMkLst>
            <pc:docMk/>
            <pc:sldMk cId="2815679427" sldId="294"/>
            <ac:spMk id="16" creationId="{2B8D44BF-A3B5-6BED-C39C-FA8260E83536}"/>
          </ac:spMkLst>
        </pc:spChg>
        <pc:picChg chg="add mod">
          <ac:chgData name="Christian Camilo Cano Vasquez" userId="8c73a2a4-758b-4e34-81ed-39462e48bd92" providerId="ADAL" clId="{83A706B2-AA95-4CDC-834C-F4D908C80230}" dt="2025-02-09T23:38:32.744" v="355" actId="1076"/>
          <ac:picMkLst>
            <pc:docMk/>
            <pc:sldMk cId="2815679427" sldId="294"/>
            <ac:picMk id="10" creationId="{EA7B2FC2-D98A-62A1-228C-2882147646FE}"/>
          </ac:picMkLst>
        </pc:picChg>
      </pc:sldChg>
      <pc:sldChg chg="addSp delSp modSp new mod">
        <pc:chgData name="Christian Camilo Cano Vasquez" userId="8c73a2a4-758b-4e34-81ed-39462e48bd92" providerId="ADAL" clId="{83A706B2-AA95-4CDC-834C-F4D908C80230}" dt="2025-02-09T23:17:54.551" v="115" actId="403"/>
        <pc:sldMkLst>
          <pc:docMk/>
          <pc:sldMk cId="1640019522" sldId="295"/>
        </pc:sldMkLst>
        <pc:spChg chg="del">
          <ac:chgData name="Christian Camilo Cano Vasquez" userId="8c73a2a4-758b-4e34-81ed-39462e48bd92" providerId="ADAL" clId="{83A706B2-AA95-4CDC-834C-F4D908C80230}" dt="2025-02-09T23:17:37.829" v="108" actId="478"/>
          <ac:spMkLst>
            <pc:docMk/>
            <pc:sldMk cId="1640019522" sldId="295"/>
            <ac:spMk id="2" creationId="{5D66A4B3-0EC3-435E-57A3-EB664561ABDB}"/>
          </ac:spMkLst>
        </pc:spChg>
        <pc:spChg chg="del">
          <ac:chgData name="Christian Camilo Cano Vasquez" userId="8c73a2a4-758b-4e34-81ed-39462e48bd92" providerId="ADAL" clId="{83A706B2-AA95-4CDC-834C-F4D908C80230}" dt="2025-02-09T23:17:45.590" v="109"/>
          <ac:spMkLst>
            <pc:docMk/>
            <pc:sldMk cId="1640019522" sldId="295"/>
            <ac:spMk id="3" creationId="{A7B12427-6892-E9F1-A7EF-25CEDC14529C}"/>
          </ac:spMkLst>
        </pc:spChg>
        <pc:spChg chg="add mod">
          <ac:chgData name="Christian Camilo Cano Vasquez" userId="8c73a2a4-758b-4e34-81ed-39462e48bd92" providerId="ADAL" clId="{83A706B2-AA95-4CDC-834C-F4D908C80230}" dt="2025-02-09T23:17:54.551" v="115" actId="403"/>
          <ac:spMkLst>
            <pc:docMk/>
            <pc:sldMk cId="1640019522" sldId="295"/>
            <ac:spMk id="6" creationId="{AF6692CA-D0D0-2BAF-E673-933E02AE2BB8}"/>
          </ac:spMkLst>
        </pc:spChg>
      </pc:sldChg>
      <pc:sldChg chg="modSp add mod">
        <pc:chgData name="Christian Camilo Cano Vasquez" userId="8c73a2a4-758b-4e34-81ed-39462e48bd92" providerId="ADAL" clId="{83A706B2-AA95-4CDC-834C-F4D908C80230}" dt="2025-02-09T23:18:46.605" v="158" actId="20577"/>
        <pc:sldMkLst>
          <pc:docMk/>
          <pc:sldMk cId="3873318961" sldId="296"/>
        </pc:sldMkLst>
        <pc:spChg chg="mod">
          <ac:chgData name="Christian Camilo Cano Vasquez" userId="8c73a2a4-758b-4e34-81ed-39462e48bd92" providerId="ADAL" clId="{83A706B2-AA95-4CDC-834C-F4D908C80230}" dt="2025-02-09T23:18:46.605" v="158" actId="20577"/>
          <ac:spMkLst>
            <pc:docMk/>
            <pc:sldMk cId="3873318961" sldId="296"/>
            <ac:spMk id="6" creationId="{8111062F-F9A0-241E-6CCB-6E8BE4D8C60A}"/>
          </ac:spMkLst>
        </pc:spChg>
      </pc:sldChg>
      <pc:sldChg chg="modSp add mod">
        <pc:chgData name="Christian Camilo Cano Vasquez" userId="8c73a2a4-758b-4e34-81ed-39462e48bd92" providerId="ADAL" clId="{83A706B2-AA95-4CDC-834C-F4D908C80230}" dt="2025-02-10T11:46:25.185" v="655" actId="20577"/>
        <pc:sldMkLst>
          <pc:docMk/>
          <pc:sldMk cId="3454032079" sldId="297"/>
        </pc:sldMkLst>
        <pc:spChg chg="mod">
          <ac:chgData name="Christian Camilo Cano Vasquez" userId="8c73a2a4-758b-4e34-81ed-39462e48bd92" providerId="ADAL" clId="{83A706B2-AA95-4CDC-834C-F4D908C80230}" dt="2025-02-09T23:26:45.534" v="237" actId="20577"/>
          <ac:spMkLst>
            <pc:docMk/>
            <pc:sldMk cId="3454032079" sldId="297"/>
            <ac:spMk id="2" creationId="{181326FD-308E-2C47-D5D2-57B3357241AA}"/>
          </ac:spMkLst>
        </pc:spChg>
        <pc:spChg chg="mod">
          <ac:chgData name="Christian Camilo Cano Vasquez" userId="8c73a2a4-758b-4e34-81ed-39462e48bd92" providerId="ADAL" clId="{83A706B2-AA95-4CDC-834C-F4D908C80230}" dt="2025-02-09T23:26:13.591" v="226" actId="20577"/>
          <ac:spMkLst>
            <pc:docMk/>
            <pc:sldMk cId="3454032079" sldId="297"/>
            <ac:spMk id="8" creationId="{B08C2240-8810-4E0A-7DCF-E62A8271EA2E}"/>
          </ac:spMkLst>
        </pc:spChg>
        <pc:spChg chg="mod">
          <ac:chgData name="Christian Camilo Cano Vasquez" userId="8c73a2a4-758b-4e34-81ed-39462e48bd92" providerId="ADAL" clId="{83A706B2-AA95-4CDC-834C-F4D908C80230}" dt="2025-02-09T23:26:17.294" v="229" actId="20577"/>
          <ac:spMkLst>
            <pc:docMk/>
            <pc:sldMk cId="3454032079" sldId="297"/>
            <ac:spMk id="9" creationId="{BBDDC809-0F06-CBE2-4D1A-3A2FA36C33A8}"/>
          </ac:spMkLst>
        </pc:spChg>
        <pc:spChg chg="mod">
          <ac:chgData name="Christian Camilo Cano Vasquez" userId="8c73a2a4-758b-4e34-81ed-39462e48bd92" providerId="ADAL" clId="{83A706B2-AA95-4CDC-834C-F4D908C80230}" dt="2025-02-10T11:46:25.185" v="655" actId="20577"/>
          <ac:spMkLst>
            <pc:docMk/>
            <pc:sldMk cId="3454032079" sldId="297"/>
            <ac:spMk id="16" creationId="{5AC39480-E3E5-69B1-401F-A50C45531EF2}"/>
          </ac:spMkLst>
        </pc:spChg>
      </pc:sldChg>
      <pc:sldChg chg="modSp add mod">
        <pc:chgData name="Christian Camilo Cano Vasquez" userId="8c73a2a4-758b-4e34-81ed-39462e48bd92" providerId="ADAL" clId="{83A706B2-AA95-4CDC-834C-F4D908C80230}" dt="2025-02-09T23:36:30.584" v="342" actId="20577"/>
        <pc:sldMkLst>
          <pc:docMk/>
          <pc:sldMk cId="2103719889" sldId="298"/>
        </pc:sldMkLst>
        <pc:spChg chg="mod">
          <ac:chgData name="Christian Camilo Cano Vasquez" userId="8c73a2a4-758b-4e34-81ed-39462e48bd92" providerId="ADAL" clId="{83A706B2-AA95-4CDC-834C-F4D908C80230}" dt="2025-02-09T23:36:30.584" v="342" actId="20577"/>
          <ac:spMkLst>
            <pc:docMk/>
            <pc:sldMk cId="2103719889" sldId="298"/>
            <ac:spMk id="2" creationId="{8D88CB07-C5F5-9BB7-9F41-E171F0F0E2B9}"/>
          </ac:spMkLst>
        </pc:spChg>
        <pc:spChg chg="mod">
          <ac:chgData name="Christian Camilo Cano Vasquez" userId="8c73a2a4-758b-4e34-81ed-39462e48bd92" providerId="ADAL" clId="{83A706B2-AA95-4CDC-834C-F4D908C80230}" dt="2025-02-09T23:35:30.421" v="324" actId="20577"/>
          <ac:spMkLst>
            <pc:docMk/>
            <pc:sldMk cId="2103719889" sldId="298"/>
            <ac:spMk id="9" creationId="{2BDFECD2-156D-6697-CFBF-8CD783F9B986}"/>
          </ac:spMkLst>
        </pc:spChg>
        <pc:spChg chg="mod">
          <ac:chgData name="Christian Camilo Cano Vasquez" userId="8c73a2a4-758b-4e34-81ed-39462e48bd92" providerId="ADAL" clId="{83A706B2-AA95-4CDC-834C-F4D908C80230}" dt="2025-02-09T23:35:34.437" v="331" actId="20577"/>
          <ac:spMkLst>
            <pc:docMk/>
            <pc:sldMk cId="2103719889" sldId="298"/>
            <ac:spMk id="10" creationId="{3BFC64CA-DE35-A528-CF09-36A26DB3DEE4}"/>
          </ac:spMkLst>
        </pc:spChg>
        <pc:spChg chg="mod">
          <ac:chgData name="Christian Camilo Cano Vasquez" userId="8c73a2a4-758b-4e34-81ed-39462e48bd92" providerId="ADAL" clId="{83A706B2-AA95-4CDC-834C-F4D908C80230}" dt="2025-02-09T23:35:16.010" v="319" actId="20577"/>
          <ac:spMkLst>
            <pc:docMk/>
            <pc:sldMk cId="2103719889" sldId="298"/>
            <ac:spMk id="16" creationId="{53FFBD12-4EFF-41C1-4765-2AD268B2BD94}"/>
          </ac:spMkLst>
        </pc:spChg>
      </pc:sldChg>
      <pc:sldChg chg="modSp add mod">
        <pc:chgData name="Christian Camilo Cano Vasquez" userId="8c73a2a4-758b-4e34-81ed-39462e48bd92" providerId="ADAL" clId="{83A706B2-AA95-4CDC-834C-F4D908C80230}" dt="2025-02-09T23:43:30.035" v="490" actId="20577"/>
        <pc:sldMkLst>
          <pc:docMk/>
          <pc:sldMk cId="2685215753" sldId="299"/>
        </pc:sldMkLst>
        <pc:spChg chg="mod">
          <ac:chgData name="Christian Camilo Cano Vasquez" userId="8c73a2a4-758b-4e34-81ed-39462e48bd92" providerId="ADAL" clId="{83A706B2-AA95-4CDC-834C-F4D908C80230}" dt="2025-02-09T23:43:30.035" v="490" actId="20577"/>
          <ac:spMkLst>
            <pc:docMk/>
            <pc:sldMk cId="2685215753" sldId="299"/>
            <ac:spMk id="2" creationId="{43D7D9E5-DAC3-2BB8-7377-826863CBAD4E}"/>
          </ac:spMkLst>
        </pc:spChg>
        <pc:spChg chg="mod">
          <ac:chgData name="Christian Camilo Cano Vasquez" userId="8c73a2a4-758b-4e34-81ed-39462e48bd92" providerId="ADAL" clId="{83A706B2-AA95-4CDC-834C-F4D908C80230}" dt="2025-02-09T23:43:03.787" v="468" actId="1076"/>
          <ac:spMkLst>
            <pc:docMk/>
            <pc:sldMk cId="2685215753" sldId="299"/>
            <ac:spMk id="8" creationId="{643565A9-7DB6-D6EE-152F-2852C8BA7986}"/>
          </ac:spMkLst>
        </pc:spChg>
        <pc:spChg chg="mod">
          <ac:chgData name="Christian Camilo Cano Vasquez" userId="8c73a2a4-758b-4e34-81ed-39462e48bd92" providerId="ADAL" clId="{83A706B2-AA95-4CDC-834C-F4D908C80230}" dt="2025-02-09T23:43:18.188" v="482" actId="20577"/>
          <ac:spMkLst>
            <pc:docMk/>
            <pc:sldMk cId="2685215753" sldId="299"/>
            <ac:spMk id="16" creationId="{C096193E-AB86-E3CD-BDAC-0F9156C1A3F0}"/>
          </ac:spMkLst>
        </pc:spChg>
      </pc:sldChg>
      <pc:sldChg chg="modSp add mod">
        <pc:chgData name="Christian Camilo Cano Vasquez" userId="8c73a2a4-758b-4e34-81ed-39462e48bd92" providerId="ADAL" clId="{83A706B2-AA95-4CDC-834C-F4D908C80230}" dt="2025-02-09T23:48:20.230" v="543" actId="20577"/>
        <pc:sldMkLst>
          <pc:docMk/>
          <pc:sldMk cId="1023731220" sldId="300"/>
        </pc:sldMkLst>
        <pc:spChg chg="mod">
          <ac:chgData name="Christian Camilo Cano Vasquez" userId="8c73a2a4-758b-4e34-81ed-39462e48bd92" providerId="ADAL" clId="{83A706B2-AA95-4CDC-834C-F4D908C80230}" dt="2025-02-09T23:45:57.548" v="541" actId="20577"/>
          <ac:spMkLst>
            <pc:docMk/>
            <pc:sldMk cId="1023731220" sldId="300"/>
            <ac:spMk id="8" creationId="{B0CFB20A-64F3-A296-71E8-F4FA17D35314}"/>
          </ac:spMkLst>
        </pc:spChg>
        <pc:spChg chg="mod">
          <ac:chgData name="Christian Camilo Cano Vasquez" userId="8c73a2a4-758b-4e34-81ed-39462e48bd92" providerId="ADAL" clId="{83A706B2-AA95-4CDC-834C-F4D908C80230}" dt="2025-02-09T23:48:20.230" v="543" actId="20577"/>
          <ac:spMkLst>
            <pc:docMk/>
            <pc:sldMk cId="1023731220" sldId="300"/>
            <ac:spMk id="16" creationId="{E1662E38-DE72-ADF3-A38E-08ED40DCC2AD}"/>
          </ac:spMkLst>
        </pc:spChg>
      </pc:sldChg>
      <pc:sldChg chg="modSp add mod">
        <pc:chgData name="Christian Camilo Cano Vasquez" userId="8c73a2a4-758b-4e34-81ed-39462e48bd92" providerId="ADAL" clId="{83A706B2-AA95-4CDC-834C-F4D908C80230}" dt="2025-02-10T08:28:14.084" v="652" actId="20577"/>
        <pc:sldMkLst>
          <pc:docMk/>
          <pc:sldMk cId="699864314" sldId="301"/>
        </pc:sldMkLst>
        <pc:spChg chg="mod">
          <ac:chgData name="Christian Camilo Cano Vasquez" userId="8c73a2a4-758b-4e34-81ed-39462e48bd92" providerId="ADAL" clId="{83A706B2-AA95-4CDC-834C-F4D908C80230}" dt="2025-02-09T23:49:32.025" v="650" actId="20577"/>
          <ac:spMkLst>
            <pc:docMk/>
            <pc:sldMk cId="699864314" sldId="301"/>
            <ac:spMk id="2" creationId="{42D73A2E-0E5A-8A39-6B70-F9E94D6DBB70}"/>
          </ac:spMkLst>
        </pc:spChg>
        <pc:spChg chg="mod">
          <ac:chgData name="Christian Camilo Cano Vasquez" userId="8c73a2a4-758b-4e34-81ed-39462e48bd92" providerId="ADAL" clId="{83A706B2-AA95-4CDC-834C-F4D908C80230}" dt="2025-02-10T08:28:14.084" v="652" actId="20577"/>
          <ac:spMkLst>
            <pc:docMk/>
            <pc:sldMk cId="699864314" sldId="301"/>
            <ac:spMk id="16" creationId="{1E256546-3103-104D-A87F-78AEBE5D595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28/04/2026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28/04/2026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6BD8F-204A-B2C7-8DE9-4CF9B59E07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473E94A-6385-8355-E5F9-23196AD0890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54CE7F1-C6B0-D349-0E02-52D04319226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27D6D57-14D2-DFAF-314A-3EFD51270CA0}"/>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3672919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28B0B-5878-2536-7878-0A56C6AA1D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A8D5A07-A675-A86F-4BFB-BCD371AEF4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B365EEA-A757-AA6A-6615-FE1340AA363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764EB0E-196F-C757-4517-D0DD1A4AE95F}"/>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3877329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1C697-E6F6-A8A4-1D1D-024840D0A38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0030FF1-76D0-7B03-2349-36C98B67A94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6252A00-D55E-C472-1396-79EF0B3D461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3650A06-769C-63CB-E9A4-6DE8AA44EAAB}"/>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997108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2C6A2-8C09-4463-C8E7-9ECB1571C35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DD71C1E-36C9-2B49-DE82-F01FA9BDB72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791796-957A-1E5C-6213-4DEB81BFDDB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582A8BC-5E4B-08BD-0E47-9B69230A5323}"/>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6452866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06F9E-194B-3BFA-5F91-A287752C5C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90D92D-EEA3-7B7E-82F5-AF1D1264095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D2DC14B-2AA3-D080-B4C5-BF670E97D27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91945DA-F429-2654-45E7-FA639943B458}"/>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403383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8C25A-1B56-A1BD-CE18-3CAE8972A06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78ACD7-579B-1B04-8F32-4B5D1F6010D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A1BA0EE-D5B1-2971-07FC-653150E8480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4D5CBEB-A9EA-15D4-9D81-6BBD13526844}"/>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6239134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23</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24</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25</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3.sv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30.png"/></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50.png"/><Relationship Id="rId5" Type="http://schemas.openxmlformats.org/officeDocument/2006/relationships/image" Target="../media/image240.png"/></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70.png"/><Relationship Id="rId5" Type="http://schemas.openxmlformats.org/officeDocument/2006/relationships/image" Target="../media/image260.png"/></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70.png"/><Relationship Id="rId5" Type="http://schemas.openxmlformats.org/officeDocument/2006/relationships/image" Target="../media/image260.png"/></Relationships>
</file>

<file path=ppt/slides/_rels/slide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90.png"/><Relationship Id="rId5" Type="http://schemas.openxmlformats.org/officeDocument/2006/relationships/image" Target="../media/image280.png"/></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n-AU" sz="3200" b="1" noProof="0" dirty="0">
                <a:latin typeface="Lucida Sans"/>
                <a:cs typeface="Lucida Sans"/>
              </a:rPr>
              <a:t>Lab Book 2.0. Couplers</a:t>
            </a:r>
            <a:endParaRPr lang="en-AU" sz="3200" noProof="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n-AU" spc="165" noProof="0" dirty="0">
                <a:latin typeface="Arial"/>
                <a:cs typeface="Arial"/>
              </a:rPr>
              <a:t>Student: </a:t>
            </a:r>
            <a:endParaRPr lang="en-AU" sz="1800" noProof="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lang="en-AU" noProof="0" dirty="0"/>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n-AU" noProof="0" smtClean="0"/>
              <a:t>1</a:t>
            </a:fld>
            <a:endParaRPr lang="en-AU"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n-AU" sz="2500" u="sng" spc="-5" noProof="0" dirty="0">
                <a:latin typeface="+mj-lt"/>
                <a:cs typeface="Lucida Sans"/>
              </a:rPr>
              <a:t>Instructions</a:t>
            </a:r>
            <a:br>
              <a:rPr lang="en-AU" sz="2400" spc="-5" noProof="0" dirty="0">
                <a:latin typeface="+mj-lt"/>
                <a:cs typeface="Lucida Sans"/>
              </a:rPr>
            </a:br>
            <a:r>
              <a:rPr lang="en-AU" b="0" spc="-5" noProof="0" dirty="0">
                <a:latin typeface="+mj-lt"/>
                <a:cs typeface="Lucida Sans"/>
              </a:rPr>
              <a:t>General</a:t>
            </a:r>
            <a:endParaRPr lang="en-AU" sz="2400" b="0" noProof="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n-AU" noProof="0" smtClean="0"/>
              <a:t>2</a:t>
            </a:fld>
            <a:endParaRPr lang="en-AU" noProof="0" dirty="0"/>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n-AU" spc="-5" noProof="0" dirty="0"/>
              <a:t>LAB 2.0. COUPLERS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AU" sz="2000" b="1" kern="0" noProof="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AU" kern="0" noProof="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AU" kern="0" noProof="0" dirty="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AU" kern="0" noProof="0" dirty="0">
                <a:solidFill>
                  <a:sysClr val="windowText" lastClr="000000"/>
                </a:solidFill>
                <a:sym typeface="Wingdings" pitchFamily="2" charset="2"/>
              </a:rPr>
              <a:t>Clone the repo using </a:t>
            </a:r>
            <a:r>
              <a:rPr lang="en-AU" kern="0" noProof="0" dirty="0" err="1">
                <a:solidFill>
                  <a:sysClr val="windowText" lastClr="000000"/>
                </a:solidFill>
                <a:sym typeface="Wingdings" pitchFamily="2" charset="2"/>
              </a:rPr>
              <a:t>VSCode</a:t>
            </a:r>
            <a:endParaRPr lang="en-AU" kern="0" noProof="0" dirty="0">
              <a:solidFill>
                <a:sysClr val="windowText" lastClr="000000"/>
              </a:solidFill>
              <a:sym typeface="Wingdings" pitchFamily="2" charset="2"/>
            </a:endParaRPr>
          </a:p>
          <a:p>
            <a:pPr marL="800100" lvl="1" indent="-342900" algn="just">
              <a:buFont typeface="Arial" panose="020B0604020202020204" pitchFamily="34" charset="0"/>
              <a:buChar char="•"/>
            </a:pPr>
            <a:r>
              <a:rPr lang="en-AU" kern="0" noProof="0" dirty="0">
                <a:solidFill>
                  <a:sysClr val="windowText" lastClr="000000"/>
                </a:solidFill>
                <a:sym typeface="Wingdings" pitchFamily="2" charset="2"/>
              </a:rPr>
              <a:t>Terminal + ‘</a:t>
            </a:r>
            <a:r>
              <a:rPr lang="en-AU" kern="0" noProof="0" dirty="0" err="1">
                <a:solidFill>
                  <a:sysClr val="windowText" lastClr="000000"/>
                </a:solidFill>
                <a:sym typeface="Wingdings" pitchFamily="2" charset="2"/>
              </a:rPr>
              <a:t>uv</a:t>
            </a:r>
            <a:r>
              <a:rPr lang="en-AU" kern="0" noProof="0" dirty="0">
                <a:solidFill>
                  <a:sysClr val="windowText" lastClr="000000"/>
                </a:solidFill>
                <a:sym typeface="Wingdings" pitchFamily="2" charset="2"/>
              </a:rPr>
              <a:t> sync’</a:t>
            </a:r>
          </a:p>
          <a:p>
            <a:pPr marL="342900" indent="-342900" algn="just">
              <a:buFont typeface="Arial" panose="020B0604020202020204" pitchFamily="34" charset="0"/>
              <a:buChar char="•"/>
            </a:pPr>
            <a:r>
              <a:rPr lang="en-AU" kern="0" noProof="0" dirty="0">
                <a:solidFill>
                  <a:sysClr val="windowText" lastClr="000000"/>
                </a:solidFill>
              </a:rPr>
              <a:t>Run the </a:t>
            </a:r>
            <a:r>
              <a:rPr lang="en-AU" kern="0" noProof="0" dirty="0" err="1">
                <a:solidFill>
                  <a:sysClr val="windowText" lastClr="000000"/>
                </a:solidFill>
              </a:rPr>
              <a:t>Jupyter</a:t>
            </a:r>
            <a:r>
              <a:rPr lang="en-AU" kern="0" noProof="0" dirty="0">
                <a:solidFill>
                  <a:sysClr val="windowText" lastClr="000000"/>
                </a:solidFill>
              </a:rPr>
              <a:t> Notebook: </a:t>
            </a:r>
          </a:p>
          <a:p>
            <a:pPr marL="800100" lvl="1" indent="-342900" algn="just">
              <a:buFont typeface="Arial" panose="020B0604020202020204" pitchFamily="34" charset="0"/>
              <a:buChar char="•"/>
            </a:pPr>
            <a:r>
              <a:rPr lang="en-AU" kern="0" noProof="0" dirty="0" err="1">
                <a:solidFill>
                  <a:sysClr val="windowText" lastClr="000000"/>
                </a:solidFill>
              </a:rPr>
              <a:t>COUPLERS_Student.ipynb</a:t>
            </a:r>
            <a:r>
              <a:rPr lang="en-AU" kern="0" noProof="0" dirty="0">
                <a:solidFill>
                  <a:sysClr val="windowText" lastClr="000000"/>
                </a:solidFill>
              </a:rPr>
              <a:t> </a:t>
            </a:r>
          </a:p>
          <a:p>
            <a:pPr algn="just"/>
            <a:endParaRPr lang="en-AU" b="1" i="1" noProof="0" dirty="0"/>
          </a:p>
          <a:p>
            <a:pPr algn="just"/>
            <a:r>
              <a:rPr lang="en-AU" b="1" i="1" noProof="0" dirty="0"/>
              <a:t>Cross-Sections </a:t>
            </a:r>
            <a:r>
              <a:rPr lang="en-AU" i="1" noProof="0" dirty="0"/>
              <a:t>to be studied:</a:t>
            </a:r>
            <a:endParaRPr lang="en-AU" b="1" i="1" noProof="0" dirty="0"/>
          </a:p>
          <a:p>
            <a:pPr algn="just"/>
            <a:endParaRPr lang="en-AU" sz="2000" b="1" i="1" noProof="0" dirty="0"/>
          </a:p>
          <a:p>
            <a:pPr algn="just"/>
            <a:endParaRPr lang="en-AU" sz="2000" kern="0" noProof="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lang="en-AU" noProof="0"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lang="en-AU" noProof="0" dirty="0"/>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lang="en-AU" sz="1400" noProof="0" dirty="0">
                <a:latin typeface="Calibri"/>
                <a:cs typeface="Calibri"/>
              </a:rPr>
              <a:t>h</a:t>
            </a:r>
          </a:p>
          <a:p>
            <a:pPr marR="5080" algn="ctr">
              <a:lnSpc>
                <a:spcPct val="100000"/>
              </a:lnSpc>
              <a:spcBef>
                <a:spcPts val="5"/>
              </a:spcBef>
            </a:pPr>
            <a:r>
              <a:rPr lang="en-AU" sz="1400" spc="-10" noProof="0" dirty="0">
                <a:latin typeface="Calibri"/>
                <a:cs typeface="Calibri"/>
              </a:rPr>
              <a:t>(h</a:t>
            </a:r>
            <a:r>
              <a:rPr lang="en-AU" sz="1400" noProof="0" dirty="0">
                <a:latin typeface="Calibri"/>
                <a:cs typeface="Calibri"/>
              </a:rPr>
              <a:t>eig</a:t>
            </a:r>
            <a:r>
              <a:rPr lang="en-AU" sz="1400" spc="-25" noProof="0" dirty="0">
                <a:latin typeface="Calibri"/>
                <a:cs typeface="Calibri"/>
              </a:rPr>
              <a:t>h</a:t>
            </a:r>
            <a:r>
              <a:rPr lang="en-AU" sz="1400" spc="-5" noProof="0" dirty="0">
                <a:latin typeface="Calibri"/>
                <a:cs typeface="Calibri"/>
              </a:rPr>
              <a:t>t</a:t>
            </a:r>
            <a:r>
              <a:rPr lang="en-AU" sz="1400" noProof="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lang="en-AU" noProof="0" dirty="0"/>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n-AU" sz="1400" spc="5" noProof="0" dirty="0">
                <a:latin typeface="Calibri"/>
                <a:cs typeface="Calibri"/>
              </a:rPr>
              <a:t>w</a:t>
            </a:r>
            <a:r>
              <a:rPr lang="en-AU" sz="1400" spc="-65" noProof="0" dirty="0">
                <a:latin typeface="Calibri"/>
                <a:cs typeface="Calibri"/>
              </a:rPr>
              <a:t> </a:t>
            </a:r>
            <a:r>
              <a:rPr lang="en-AU" sz="1400" spc="-5" noProof="0" dirty="0">
                <a:latin typeface="Calibri"/>
                <a:cs typeface="Calibri"/>
              </a:rPr>
              <a:t>(width)</a:t>
            </a:r>
            <a:endParaRPr lang="en-AU" sz="1400" noProof="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n-AU" sz="2350" noProof="0" dirty="0">
              <a:latin typeface="Times New Roman"/>
              <a:cs typeface="Times New Roman"/>
            </a:endParaRPr>
          </a:p>
          <a:p>
            <a:pPr marL="18415" algn="ctr">
              <a:lnSpc>
                <a:spcPct val="100000"/>
              </a:lnSpc>
            </a:pPr>
            <a:r>
              <a:rPr lang="en-AU" sz="1600" b="1" spc="-10" noProof="0" dirty="0">
                <a:latin typeface="Calibri"/>
                <a:cs typeface="Calibri"/>
              </a:rPr>
              <a:t>Core</a:t>
            </a:r>
            <a:endParaRPr lang="en-AU" sz="1600" noProof="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lang="en-AU" sz="1600" b="1" spc="-10" noProof="0" dirty="0">
                <a:latin typeface="Calibri"/>
                <a:cs typeface="Calibri"/>
              </a:rPr>
              <a:t>Cladding</a:t>
            </a:r>
            <a:endParaRPr lang="en-AU" sz="1600" noProof="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lang="en-AU" noProof="0"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lang="en-AU" noProof="0" dirty="0"/>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n-AU" sz="1400" spc="5" noProof="0" dirty="0">
                <a:latin typeface="Calibri"/>
                <a:cs typeface="Calibri"/>
              </a:rPr>
              <a:t>w</a:t>
            </a:r>
            <a:r>
              <a:rPr lang="en-AU" sz="1400" spc="-65" noProof="0" dirty="0">
                <a:latin typeface="Calibri"/>
                <a:cs typeface="Calibri"/>
              </a:rPr>
              <a:t> </a:t>
            </a:r>
            <a:r>
              <a:rPr lang="en-AU" sz="1400" spc="-5" noProof="0" dirty="0">
                <a:latin typeface="Calibri"/>
                <a:cs typeface="Calibri"/>
              </a:rPr>
              <a:t>(width)</a:t>
            </a:r>
            <a:endParaRPr lang="en-AU" sz="1400" noProof="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n-AU" sz="2350" noProof="0" dirty="0">
              <a:latin typeface="Times New Roman"/>
              <a:cs typeface="Times New Roman"/>
            </a:endParaRPr>
          </a:p>
          <a:p>
            <a:pPr marL="18415" algn="ctr">
              <a:lnSpc>
                <a:spcPct val="100000"/>
              </a:lnSpc>
            </a:pPr>
            <a:r>
              <a:rPr lang="en-AU" sz="1600" b="1" spc="-10" noProof="0" dirty="0">
                <a:latin typeface="Calibri"/>
                <a:cs typeface="Calibri"/>
              </a:rPr>
              <a:t>MMI Body</a:t>
            </a:r>
            <a:endParaRPr lang="en-AU" sz="1600" noProof="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lang="en-AU" sz="1600" b="1" spc="-10" noProof="0" dirty="0">
                <a:latin typeface="Calibri"/>
                <a:cs typeface="Calibri"/>
              </a:rPr>
              <a:t>Cladding</a:t>
            </a:r>
            <a:endParaRPr lang="en-AU" sz="1600" noProof="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AU" b="1" noProof="0" dirty="0"/>
              <a:t>Multimode Interference (MMI) </a:t>
            </a:r>
            <a:r>
              <a:rPr lang="en-AU" noProof="0" dirty="0"/>
              <a:t>coupler</a:t>
            </a:r>
            <a:r>
              <a:rPr lang="en-AU" b="1" noProof="0" dirty="0"/>
              <a:t> </a:t>
            </a:r>
            <a:endParaRPr lang="en-AU" noProof="0"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AU" b="1" noProof="0" dirty="0"/>
              <a:t>Directional </a:t>
            </a:r>
            <a:r>
              <a:rPr lang="en-AU" noProof="0"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n-AU" sz="2350" noProof="0" dirty="0">
              <a:latin typeface="Times New Roman"/>
              <a:cs typeface="Times New Roman"/>
            </a:endParaRPr>
          </a:p>
          <a:p>
            <a:pPr marL="18415" algn="ctr">
              <a:lnSpc>
                <a:spcPct val="100000"/>
              </a:lnSpc>
            </a:pPr>
            <a:r>
              <a:rPr lang="en-AU" sz="1600" b="1" spc="-10" noProof="0" dirty="0">
                <a:latin typeface="Calibri"/>
                <a:cs typeface="Calibri"/>
              </a:rPr>
              <a:t>Core</a:t>
            </a:r>
            <a:endParaRPr lang="en-AU" sz="1600" noProof="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lang="en-AU" noProof="0" dirty="0"/>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n-AU" sz="1400" noProof="0" dirty="0">
                <a:latin typeface="Calibri"/>
                <a:cs typeface="Calibri"/>
              </a:rPr>
              <a:t>g</a:t>
            </a:r>
          </a:p>
          <a:p>
            <a:pPr marR="5080" algn="ctr">
              <a:lnSpc>
                <a:spcPct val="100000"/>
              </a:lnSpc>
              <a:spcBef>
                <a:spcPts val="5"/>
              </a:spcBef>
            </a:pPr>
            <a:r>
              <a:rPr lang="en-AU" sz="1400" spc="-10" noProof="0" dirty="0">
                <a:latin typeface="Calibri"/>
                <a:cs typeface="Calibri"/>
              </a:rPr>
              <a:t>(gap</a:t>
            </a:r>
            <a:r>
              <a:rPr lang="en-AU" sz="1400" noProof="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lang="en-AU" noProof="0" dirty="0"/>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lang="en-AU" sz="1400" noProof="0" dirty="0">
                <a:latin typeface="Calibri"/>
                <a:cs typeface="Calibri"/>
              </a:rPr>
              <a:t>h</a:t>
            </a:r>
          </a:p>
          <a:p>
            <a:pPr marR="5080" algn="ctr">
              <a:lnSpc>
                <a:spcPct val="100000"/>
              </a:lnSpc>
              <a:spcBef>
                <a:spcPts val="5"/>
              </a:spcBef>
            </a:pPr>
            <a:r>
              <a:rPr lang="en-AU" sz="1400" spc="-10" noProof="0" dirty="0">
                <a:latin typeface="Calibri"/>
                <a:cs typeface="Calibri"/>
              </a:rPr>
              <a:t>(h</a:t>
            </a:r>
            <a:r>
              <a:rPr lang="en-AU" sz="1400" noProof="0" dirty="0">
                <a:latin typeface="Calibri"/>
                <a:cs typeface="Calibri"/>
              </a:rPr>
              <a:t>eig</a:t>
            </a:r>
            <a:r>
              <a:rPr lang="en-AU" sz="1400" spc="-25" noProof="0" dirty="0">
                <a:latin typeface="Calibri"/>
                <a:cs typeface="Calibri"/>
              </a:rPr>
              <a:t>h</a:t>
            </a:r>
            <a:r>
              <a:rPr lang="en-AU" sz="1400" spc="-5" noProof="0" dirty="0">
                <a:latin typeface="Calibri"/>
                <a:cs typeface="Calibri"/>
              </a:rPr>
              <a:t>t</a:t>
            </a:r>
            <a:r>
              <a:rPr lang="en-AU" sz="1400" noProof="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n-AU" spc="-5" noProof="0" dirty="0"/>
              <a:t>LAB 2.0. COUPLERS</a:t>
            </a:r>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n-AU" noProof="0" smtClean="0"/>
              <a:t>3</a:t>
            </a:fld>
            <a:endParaRPr lang="en-AU" noProof="0" dirty="0"/>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AU" sz="2800" b="1" noProof="0"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AU" sz="2500" noProof="0" dirty="0"/>
              <a:t>Learning outcome #1 – Directional coupler cross-section in </a:t>
            </a:r>
            <a:r>
              <a:rPr lang="en-AU" sz="2500" noProof="0" dirty="0" err="1"/>
              <a:t>GDSFactory</a:t>
            </a:r>
            <a:br>
              <a:rPr lang="en-AU" sz="2500" spc="-5" noProof="0" dirty="0">
                <a:latin typeface="+mj-lt"/>
                <a:cs typeface="Lucida Sans"/>
              </a:rPr>
            </a:br>
            <a:endParaRPr lang="en-AU" sz="2500" b="0" noProof="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n-AU" noProof="0" smtClean="0"/>
              <a:t>4</a:t>
            </a:fld>
            <a:endParaRPr lang="en-AU" noProof="0" dirty="0"/>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n-AU" spc="-5" noProof="0" dirty="0"/>
              <a:t>LAB 2.0. COUPLERS</a:t>
            </a:r>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AU" sz="2000" b="1" noProof="0" dirty="0"/>
                  <a:t>INSTRUCTOR:</a:t>
                </a:r>
              </a:p>
              <a:p>
                <a:pPr marL="342900" indent="-342900" algn="just">
                  <a:buFont typeface="Arial" panose="020B0604020202020204" pitchFamily="34" charset="0"/>
                  <a:buChar char="•"/>
                </a:pPr>
                <a:r>
                  <a:rPr lang="en-AU" sz="2000" noProof="0" dirty="0"/>
                  <a:t>Present Python and </a:t>
                </a:r>
                <a:r>
                  <a:rPr lang="en-AU" sz="2000" noProof="0" dirty="0" err="1"/>
                  <a:t>GDSFactory</a:t>
                </a:r>
                <a:r>
                  <a:rPr lang="en-AU" sz="2000" noProof="0" dirty="0"/>
                  <a:t> implementation of DC cross-section</a:t>
                </a:r>
              </a:p>
              <a:p>
                <a:pPr marL="342900" indent="-342900" algn="just">
                  <a:buFont typeface="Arial" panose="020B0604020202020204" pitchFamily="34" charset="0"/>
                  <a:buChar char="•"/>
                </a:pPr>
                <a:r>
                  <a:rPr lang="en-AU" sz="2000" noProof="0" dirty="0"/>
                  <a:t>Describe how to obtain the beating length </a:t>
                </a:r>
                <a14:m>
                  <m:oMath xmlns:m="http://schemas.openxmlformats.org/officeDocument/2006/math">
                    <m:sSub>
                      <m:sSubPr>
                        <m:ctrlPr>
                          <a:rPr lang="en-AU" sz="2000" b="0" i="1" noProof="0" smtClean="0">
                            <a:latin typeface="Cambria Math" panose="02040503050406030204" pitchFamily="18" charset="0"/>
                          </a:rPr>
                        </m:ctrlPr>
                      </m:sSubPr>
                      <m:e>
                        <m:r>
                          <a:rPr lang="en-AU" sz="2000" b="0" i="1" noProof="0" smtClean="0">
                            <a:latin typeface="Cambria Math" panose="02040503050406030204" pitchFamily="18" charset="0"/>
                          </a:rPr>
                          <m:t>𝐿</m:t>
                        </m:r>
                      </m:e>
                      <m:sub>
                        <m:r>
                          <a:rPr lang="en-AU" sz="2000" b="0" i="1" noProof="0" smtClean="0">
                            <a:latin typeface="Cambria Math" panose="02040503050406030204" pitchFamily="18" charset="0"/>
                          </a:rPr>
                          <m:t>𝜋</m:t>
                        </m:r>
                      </m:sub>
                    </m:sSub>
                  </m:oMath>
                </a14:m>
                <a:endParaRPr lang="en-AU" sz="2000" noProof="0" dirty="0"/>
              </a:p>
              <a:p>
                <a:pPr marL="342900" indent="-342900" algn="just">
                  <a:buFont typeface="Arial" panose="020B0604020202020204" pitchFamily="34" charset="0"/>
                  <a:buChar char="•"/>
                </a:pPr>
                <a:r>
                  <a:rPr lang="en-AU" sz="2000" noProof="0" dirty="0"/>
                  <a:t>Describe the outputs.</a:t>
                </a:r>
              </a:p>
              <a:p>
                <a:pPr marL="0" indent="0" algn="just">
                  <a:buNone/>
                </a:pPr>
                <a:r>
                  <a:rPr lang="en-AU" sz="2000" b="1" noProof="0" dirty="0"/>
                  <a:t>ALL EXAMPLE #1: </a:t>
                </a:r>
                <a:r>
                  <a:rPr lang="en-AU" sz="2000" noProof="0" dirty="0"/>
                  <a:t>waveguide width 1.2 µm, gap between waveguides 0.6 µm, deep </a:t>
                </a:r>
                <a:r>
                  <a:rPr lang="en-AU" sz="2000" noProof="0" dirty="0" err="1"/>
                  <a:t>wvg</a:t>
                </a:r>
                <a:r>
                  <a:rPr lang="en-AU" sz="2000" noProof="0" dirty="0"/>
                  <a:t>, wavelength start and end same 1.55 µm </a:t>
                </a:r>
                <a:r>
                  <a:rPr lang="en-AU" sz="2000" noProof="0" dirty="0">
                    <a:sym typeface="Wingdings" pitchFamily="2" charset="2"/>
                  </a:rPr>
                  <a:t> all ”Run”</a:t>
                </a:r>
                <a:endParaRPr lang="en-AU" sz="2000" noProof="0" dirty="0"/>
              </a:p>
              <a:p>
                <a:pPr marL="0" indent="0" algn="just">
                  <a:buNone/>
                </a:pPr>
                <a:r>
                  <a:rPr lang="en-AU" sz="2000" b="1" noProof="0" dirty="0"/>
                  <a:t>ALL: </a:t>
                </a:r>
                <a:r>
                  <a:rPr lang="en-AU" sz="2000" noProof="0" dirty="0"/>
                  <a:t>Follow</a:t>
                </a:r>
                <a:r>
                  <a:rPr lang="en-AU" sz="2000" b="1" noProof="0" dirty="0"/>
                  <a:t> </a:t>
                </a:r>
                <a:r>
                  <a:rPr lang="en-AU" sz="2000" noProof="0" dirty="0"/>
                  <a:t>instructor, that will show how to 1) plot mode, 2) explore the results (</a:t>
                </a:r>
                <a:r>
                  <a:rPr lang="en-AU" sz="2000" noProof="0" dirty="0" err="1"/>
                  <a:t>neff</a:t>
                </a:r>
                <a:r>
                  <a:rPr lang="en-AU" sz="2000" noProof="0" dirty="0"/>
                  <a:t> …)</a:t>
                </a:r>
              </a:p>
              <a:p>
                <a:pPr algn="just"/>
                <a:endParaRPr lang="en-AU" sz="2000" b="1" i="1" noProof="0" dirty="0"/>
              </a:p>
              <a:p>
                <a:pPr algn="just"/>
                <a:endParaRPr lang="en-AU" sz="2000" kern="0" noProof="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pl-PL">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583019" y="3808274"/>
            <a:ext cx="11199971" cy="2862322"/>
          </a:xfrm>
          <a:prstGeom prst="rect">
            <a:avLst/>
          </a:prstGeom>
          <a:solidFill>
            <a:schemeClr val="bg1">
              <a:lumMod val="95000"/>
            </a:schemeClr>
          </a:solidFill>
          <a:ln w="28575">
            <a:solidFill>
              <a:srgbClr val="E0700D"/>
            </a:solidFill>
          </a:ln>
        </p:spPr>
        <p:txBody>
          <a:bodyPr wrap="square" rtlCol="0">
            <a:spAutoFit/>
          </a:bodyPr>
          <a:lstStyle/>
          <a:p>
            <a:pPr algn="just"/>
            <a:r>
              <a:rPr lang="en-AU" sz="1200" noProof="0" dirty="0">
                <a:latin typeface="Arial" panose="020B0604020202020204" pitchFamily="34" charset="0"/>
                <a:cs typeface="Arial" panose="020B0604020202020204" pitchFamily="34" charset="0"/>
              </a:rPr>
              <a:t>Document all your results (</a:t>
            </a:r>
            <a:r>
              <a:rPr lang="en-AU" sz="1200" noProof="0" dirty="0" err="1">
                <a:latin typeface="Arial" panose="020B0604020202020204" pitchFamily="34" charset="0"/>
                <a:cs typeface="Arial" panose="020B0604020202020204" pitchFamily="34" charset="0"/>
              </a:rPr>
              <a:t>neff</a:t>
            </a:r>
            <a:r>
              <a:rPr lang="en-AU" sz="1200" noProof="0" dirty="0">
                <a:latin typeface="Arial" panose="020B0604020202020204" pitchFamily="34" charset="0"/>
                <a:cs typeface="Arial" panose="020B0604020202020204" pitchFamily="34" charset="0"/>
              </a:rPr>
              <a:t>, plot fields of different modes, comparison between different polarizations…)</a:t>
            </a:r>
          </a:p>
          <a:p>
            <a:pPr algn="just"/>
            <a:r>
              <a:rPr lang="en-AU" sz="1200" b="1" noProof="0" dirty="0">
                <a:latin typeface="Arial" panose="020B0604020202020204" pitchFamily="34" charset="0"/>
                <a:cs typeface="Arial" panose="020B0604020202020204" pitchFamily="34" charset="0"/>
              </a:rPr>
              <a:t>Neff of four modes: </a:t>
            </a:r>
            <a:r>
              <a:rPr lang="en-AU" sz="1200" noProof="0" dirty="0">
                <a:latin typeface="Arial" panose="020B0604020202020204" pitchFamily="34" charset="0"/>
                <a:cs typeface="Arial" panose="020B0604020202020204" pitchFamily="34" charset="0"/>
              </a:rPr>
              <a:t>1.60942484+1.02849974e-04j 1.60116589+9.83178135e-05j</a:t>
            </a:r>
          </a:p>
          <a:p>
            <a:pPr algn="just"/>
            <a:r>
              <a:rPr lang="en-AU" sz="1200" noProof="0" dirty="0">
                <a:latin typeface="Arial" panose="020B0604020202020204" pitchFamily="34" charset="0"/>
                <a:cs typeface="Arial" panose="020B0604020202020204" pitchFamily="34" charset="0"/>
              </a:rPr>
              <a:t> 1.53540293+1.77367472e-04j 1.52057329+1.77190584e-04j</a:t>
            </a:r>
          </a:p>
          <a:p>
            <a:pPr algn="just"/>
            <a:endParaRPr lang="en-AU" sz="1200" noProof="0" dirty="0">
              <a:latin typeface="Arial" panose="020B0604020202020204" pitchFamily="34" charset="0"/>
              <a:cs typeface="Arial" panose="020B0604020202020204" pitchFamily="34" charset="0"/>
            </a:endParaRPr>
          </a:p>
          <a:p>
            <a:pPr algn="just"/>
            <a:r>
              <a:rPr lang="en-AU" sz="1200" b="1" noProof="0" dirty="0">
                <a:latin typeface="Arial" panose="020B0604020202020204" pitchFamily="34" charset="0"/>
                <a:cs typeface="Arial" panose="020B0604020202020204" pitchFamily="34" charset="0"/>
              </a:rPr>
              <a:t>Fraction </a:t>
            </a:r>
            <a:r>
              <a:rPr lang="en-AU" sz="1200" b="1" noProof="0" dirty="0" err="1">
                <a:latin typeface="Arial" panose="020B0604020202020204" pitchFamily="34" charset="0"/>
                <a:cs typeface="Arial" panose="020B0604020202020204" pitchFamily="34" charset="0"/>
              </a:rPr>
              <a:t>Te</a:t>
            </a:r>
            <a:r>
              <a:rPr lang="en-AU" sz="1200" b="1" noProof="0" dirty="0">
                <a:latin typeface="Arial" panose="020B0604020202020204" pitchFamily="34" charset="0"/>
                <a:cs typeface="Arial" panose="020B0604020202020204" pitchFamily="34" charset="0"/>
              </a:rPr>
              <a:t> for four modes: </a:t>
            </a:r>
            <a:r>
              <a:rPr lang="en-AU" sz="1200" noProof="0" dirty="0">
                <a:latin typeface="Arial" panose="020B0604020202020204" pitchFamily="34" charset="0"/>
                <a:cs typeface="Arial" panose="020B0604020202020204" pitchFamily="34" charset="0"/>
              </a:rPr>
              <a:t>0.994898  , 0.99527537, 0.00888064, 0.01130183</a:t>
            </a:r>
          </a:p>
          <a:p>
            <a:pPr algn="just"/>
            <a:endParaRPr lang="en-AU" sz="1200" noProof="0" dirty="0">
              <a:latin typeface="Arial" panose="020B0604020202020204" pitchFamily="34" charset="0"/>
              <a:cs typeface="Arial" panose="020B0604020202020204" pitchFamily="34" charset="0"/>
            </a:endParaRPr>
          </a:p>
          <a:p>
            <a:pPr algn="just"/>
            <a:r>
              <a:rPr lang="en-AU" sz="1200" b="1" noProof="0" dirty="0">
                <a:latin typeface="Arial" panose="020B0604020202020204" pitchFamily="34" charset="0"/>
                <a:cs typeface="Arial" panose="020B0604020202020204" pitchFamily="34" charset="0"/>
              </a:rPr>
              <a:t>Fraction Tm for four modes</a:t>
            </a:r>
            <a:r>
              <a:rPr lang="en-AU" sz="1200" noProof="0" dirty="0">
                <a:latin typeface="Arial" panose="020B0604020202020204" pitchFamily="34" charset="0"/>
                <a:cs typeface="Arial" panose="020B0604020202020204" pitchFamily="34" charset="0"/>
              </a:rPr>
              <a:t>: 0.005102  , 0.00472463, 0.99111936, 0.98869817</a:t>
            </a:r>
          </a:p>
          <a:p>
            <a:pPr algn="just"/>
            <a:endParaRPr lang="en-AU" sz="1200" noProof="0" dirty="0">
              <a:latin typeface="Arial" panose="020B0604020202020204" pitchFamily="34" charset="0"/>
              <a:cs typeface="Arial" panose="020B0604020202020204" pitchFamily="34" charset="0"/>
            </a:endParaRPr>
          </a:p>
          <a:p>
            <a:pPr algn="just"/>
            <a:r>
              <a:rPr lang="en-AU" sz="1200" noProof="0" dirty="0">
                <a:latin typeface="Arial" panose="020B0604020202020204" pitchFamily="34" charset="0"/>
                <a:cs typeface="Arial" panose="020B0604020202020204" pitchFamily="34" charset="0"/>
              </a:rPr>
              <a:t>This time we have to waveguides instead of one.</a:t>
            </a:r>
          </a:p>
          <a:p>
            <a:pPr algn="just"/>
            <a:endParaRPr lang="en-AU" sz="1200" noProof="0" dirty="0">
              <a:latin typeface="Arial" panose="020B0604020202020204" pitchFamily="34" charset="0"/>
              <a:cs typeface="Arial" panose="020B0604020202020204" pitchFamily="34" charset="0"/>
            </a:endParaRPr>
          </a:p>
          <a:p>
            <a:pPr algn="just"/>
            <a:r>
              <a:rPr lang="en-AU" sz="1200" b="1" noProof="0" dirty="0" err="1">
                <a:latin typeface="Arial" panose="020B0604020202020204" pitchFamily="34" charset="0"/>
                <a:cs typeface="Arial" panose="020B0604020202020204" pitchFamily="34" charset="0"/>
              </a:rPr>
              <a:t>L_pi_TE</a:t>
            </a:r>
            <a:r>
              <a:rPr lang="en-AU" sz="1200" noProof="0" dirty="0">
                <a:latin typeface="Arial" panose="020B0604020202020204" pitchFamily="34" charset="0"/>
                <a:cs typeface="Arial" panose="020B0604020202020204" pitchFamily="34" charset="0"/>
              </a:rPr>
              <a:t>: 93.83767536699492</a:t>
            </a:r>
          </a:p>
          <a:p>
            <a:pPr algn="just"/>
            <a:r>
              <a:rPr lang="en-AU" sz="1200" b="1" noProof="0" dirty="0" err="1">
                <a:latin typeface="Arial" panose="020B0604020202020204" pitchFamily="34" charset="0"/>
                <a:cs typeface="Arial" panose="020B0604020202020204" pitchFamily="34" charset="0"/>
              </a:rPr>
              <a:t>L_pi_TM</a:t>
            </a:r>
            <a:r>
              <a:rPr lang="en-AU" sz="1200" noProof="0" dirty="0">
                <a:latin typeface="Arial" panose="020B0604020202020204" pitchFamily="34" charset="0"/>
                <a:cs typeface="Arial" panose="020B0604020202020204" pitchFamily="34" charset="0"/>
              </a:rPr>
              <a:t>: 52.26022367744298</a:t>
            </a: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00443-B5CE-4FE4-A2D3-C97E288294EA}"/>
            </a:ext>
          </a:extLst>
        </p:cNvPr>
        <p:cNvGrpSpPr/>
        <p:nvPr/>
      </p:nvGrpSpPr>
      <p:grpSpPr>
        <a:xfrm>
          <a:off x="0" y="0"/>
          <a:ext cx="0" cy="0"/>
          <a:chOff x="0" y="0"/>
          <a:chExt cx="0" cy="0"/>
        </a:xfrm>
      </p:grpSpPr>
      <p:sp>
        <p:nvSpPr>
          <p:cNvPr id="84" name="Marcador de número de diapositiva 83">
            <a:extLst>
              <a:ext uri="{FF2B5EF4-FFF2-40B4-BE49-F238E27FC236}">
                <a16:creationId xmlns:a16="http://schemas.microsoft.com/office/drawing/2014/main" id="{EF7F2D0C-101E-CD07-8113-AA590A5D2FEC}"/>
              </a:ext>
            </a:extLst>
          </p:cNvPr>
          <p:cNvSpPr>
            <a:spLocks noGrp="1"/>
          </p:cNvSpPr>
          <p:nvPr>
            <p:ph type="sldNum" sz="quarter" idx="7"/>
          </p:nvPr>
        </p:nvSpPr>
        <p:spPr/>
        <p:txBody>
          <a:bodyPr/>
          <a:lstStyle/>
          <a:p>
            <a:fld id="{B6F15528-21DE-4FAA-801E-634DDDAF4B2B}" type="slidenum">
              <a:rPr lang="en-AU" noProof="0" smtClean="0"/>
              <a:t>5</a:t>
            </a:fld>
            <a:endParaRPr lang="en-AU" noProof="0" dirty="0"/>
          </a:p>
        </p:txBody>
      </p:sp>
      <p:sp>
        <p:nvSpPr>
          <p:cNvPr id="16" name="object 16">
            <a:extLst>
              <a:ext uri="{FF2B5EF4-FFF2-40B4-BE49-F238E27FC236}">
                <a16:creationId xmlns:a16="http://schemas.microsoft.com/office/drawing/2014/main" id="{3D43F661-6494-33CA-B3CF-45CD132FC788}"/>
              </a:ext>
            </a:extLst>
          </p:cNvPr>
          <p:cNvSpPr txBox="1">
            <a:spLocks noGrp="1"/>
          </p:cNvSpPr>
          <p:nvPr>
            <p:ph type="title" idx="4294967295"/>
          </p:nvPr>
        </p:nvSpPr>
        <p:spPr>
          <a:xfrm>
            <a:off x="1196975" y="409575"/>
            <a:ext cx="10995025" cy="781050"/>
          </a:xfrm>
          <a:prstGeom prst="rect">
            <a:avLst/>
          </a:prstGeom>
        </p:spPr>
        <p:txBody>
          <a:bodyPr vert="horz" wrap="square" lIns="0" tIns="12700" rIns="0" bIns="0" rtlCol="0">
            <a:spAutoFit/>
          </a:bodyPr>
          <a:lstStyle/>
          <a:p>
            <a:pPr marL="12700">
              <a:lnSpc>
                <a:spcPct val="100000"/>
              </a:lnSpc>
              <a:spcBef>
                <a:spcPts val="100"/>
              </a:spcBef>
            </a:pPr>
            <a:r>
              <a:rPr lang="en-AU" sz="2500" noProof="0" dirty="0"/>
              <a:t>Learning outcome #1 – Directional coupler cross-section in </a:t>
            </a:r>
            <a:r>
              <a:rPr lang="en-AU" sz="2500" noProof="0" dirty="0" err="1"/>
              <a:t>GDSFactory</a:t>
            </a:r>
            <a:br>
              <a:rPr lang="en-AU" sz="2500" spc="-5" noProof="0" dirty="0">
                <a:latin typeface="+mj-lt"/>
                <a:cs typeface="Lucida Sans"/>
              </a:rPr>
            </a:br>
            <a:endParaRPr lang="en-AU" sz="2500" b="0" noProof="0" dirty="0">
              <a:latin typeface="+mj-lt"/>
              <a:cs typeface="Lucida Sans"/>
            </a:endParaRPr>
          </a:p>
        </p:txBody>
      </p:sp>
      <p:sp>
        <p:nvSpPr>
          <p:cNvPr id="3" name="Marcador de pie de página 2">
            <a:extLst>
              <a:ext uri="{FF2B5EF4-FFF2-40B4-BE49-F238E27FC236}">
                <a16:creationId xmlns:a16="http://schemas.microsoft.com/office/drawing/2014/main" id="{FA1E0174-7141-3F12-2201-077530D3C86A}"/>
              </a:ext>
            </a:extLst>
          </p:cNvPr>
          <p:cNvSpPr>
            <a:spLocks noGrp="1"/>
          </p:cNvSpPr>
          <p:nvPr>
            <p:ph type="ftr" sz="quarter" idx="4294967295"/>
          </p:nvPr>
        </p:nvSpPr>
        <p:spPr>
          <a:xfrm>
            <a:off x="0" y="6456363"/>
            <a:ext cx="2743200" cy="185737"/>
          </a:xfrm>
        </p:spPr>
        <p:txBody>
          <a:bodyPr/>
          <a:lstStyle/>
          <a:p>
            <a:pPr marL="12700">
              <a:spcBef>
                <a:spcPts val="15"/>
              </a:spcBef>
            </a:pPr>
            <a:r>
              <a:rPr lang="en-AU" spc="-5" noProof="0" dirty="0"/>
              <a:t>LAB 2.0. COUPLERS</a:t>
            </a:r>
          </a:p>
        </p:txBody>
      </p:sp>
      <p:pic>
        <p:nvPicPr>
          <p:cNvPr id="83" name="Gráfico 82">
            <a:extLst>
              <a:ext uri="{FF2B5EF4-FFF2-40B4-BE49-F238E27FC236}">
                <a16:creationId xmlns:a16="http://schemas.microsoft.com/office/drawing/2014/main" id="{B7876AE8-4E15-DA94-42E5-385E7E95B6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pic>
        <p:nvPicPr>
          <p:cNvPr id="10" name="Obraz 9">
            <a:extLst>
              <a:ext uri="{FF2B5EF4-FFF2-40B4-BE49-F238E27FC236}">
                <a16:creationId xmlns:a16="http://schemas.microsoft.com/office/drawing/2014/main" id="{1E618A21-030C-74C9-1403-182969F5A521}"/>
              </a:ext>
            </a:extLst>
          </p:cNvPr>
          <p:cNvPicPr>
            <a:picLocks noChangeAspect="1"/>
          </p:cNvPicPr>
          <p:nvPr/>
        </p:nvPicPr>
        <p:blipFill>
          <a:blip r:embed="rId4"/>
          <a:stretch>
            <a:fillRect/>
          </a:stretch>
        </p:blipFill>
        <p:spPr>
          <a:xfrm>
            <a:off x="2709472" y="1138041"/>
            <a:ext cx="5901128" cy="4143572"/>
          </a:xfrm>
          <a:prstGeom prst="rect">
            <a:avLst/>
          </a:prstGeom>
        </p:spPr>
      </p:pic>
    </p:spTree>
    <p:extLst>
      <p:ext uri="{BB962C8B-B14F-4D97-AF65-F5344CB8AC3E}">
        <p14:creationId xmlns:p14="http://schemas.microsoft.com/office/powerpoint/2010/main" val="291455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49E1A-8414-2C5A-D463-A19AF1011B27}"/>
            </a:ext>
          </a:extLst>
        </p:cNvPr>
        <p:cNvGrpSpPr/>
        <p:nvPr/>
      </p:nvGrpSpPr>
      <p:grpSpPr>
        <a:xfrm>
          <a:off x="0" y="0"/>
          <a:ext cx="0" cy="0"/>
          <a:chOff x="0" y="0"/>
          <a:chExt cx="0" cy="0"/>
        </a:xfrm>
      </p:grpSpPr>
      <p:sp>
        <p:nvSpPr>
          <p:cNvPr id="84" name="Marcador de número de diapositiva 83">
            <a:extLst>
              <a:ext uri="{FF2B5EF4-FFF2-40B4-BE49-F238E27FC236}">
                <a16:creationId xmlns:a16="http://schemas.microsoft.com/office/drawing/2014/main" id="{586DC05C-74A4-CB15-3744-788626EF0BD2}"/>
              </a:ext>
            </a:extLst>
          </p:cNvPr>
          <p:cNvSpPr>
            <a:spLocks noGrp="1"/>
          </p:cNvSpPr>
          <p:nvPr>
            <p:ph type="sldNum" sz="quarter" idx="7"/>
          </p:nvPr>
        </p:nvSpPr>
        <p:spPr/>
        <p:txBody>
          <a:bodyPr/>
          <a:lstStyle/>
          <a:p>
            <a:fld id="{B6F15528-21DE-4FAA-801E-634DDDAF4B2B}" type="slidenum">
              <a:rPr lang="en-AU" noProof="0" smtClean="0"/>
              <a:t>6</a:t>
            </a:fld>
            <a:endParaRPr lang="en-AU" noProof="0" dirty="0"/>
          </a:p>
        </p:txBody>
      </p:sp>
      <p:sp>
        <p:nvSpPr>
          <p:cNvPr id="16" name="object 16">
            <a:extLst>
              <a:ext uri="{FF2B5EF4-FFF2-40B4-BE49-F238E27FC236}">
                <a16:creationId xmlns:a16="http://schemas.microsoft.com/office/drawing/2014/main" id="{8C5CA283-F11C-B2A1-749D-DCD0C8CDFD7E}"/>
              </a:ext>
            </a:extLst>
          </p:cNvPr>
          <p:cNvSpPr txBox="1">
            <a:spLocks noGrp="1"/>
          </p:cNvSpPr>
          <p:nvPr>
            <p:ph type="title" idx="4294967295"/>
          </p:nvPr>
        </p:nvSpPr>
        <p:spPr>
          <a:xfrm>
            <a:off x="1196975" y="409575"/>
            <a:ext cx="10995025" cy="781050"/>
          </a:xfrm>
          <a:prstGeom prst="rect">
            <a:avLst/>
          </a:prstGeom>
        </p:spPr>
        <p:txBody>
          <a:bodyPr vert="horz" wrap="square" lIns="0" tIns="12700" rIns="0" bIns="0" rtlCol="0">
            <a:spAutoFit/>
          </a:bodyPr>
          <a:lstStyle/>
          <a:p>
            <a:pPr marL="12700">
              <a:lnSpc>
                <a:spcPct val="100000"/>
              </a:lnSpc>
              <a:spcBef>
                <a:spcPts val="100"/>
              </a:spcBef>
            </a:pPr>
            <a:r>
              <a:rPr lang="en-AU" sz="2500" noProof="0" dirty="0"/>
              <a:t>Learning outcome #1 – Directional coupler cross-section in </a:t>
            </a:r>
            <a:r>
              <a:rPr lang="en-AU" sz="2500" noProof="0" dirty="0" err="1"/>
              <a:t>GDSFactory</a:t>
            </a:r>
            <a:br>
              <a:rPr lang="en-AU" sz="2500" spc="-5" noProof="0" dirty="0">
                <a:latin typeface="+mj-lt"/>
                <a:cs typeface="Lucida Sans"/>
              </a:rPr>
            </a:br>
            <a:endParaRPr lang="en-AU" sz="2500" b="0" noProof="0" dirty="0">
              <a:latin typeface="+mj-lt"/>
              <a:cs typeface="Lucida Sans"/>
            </a:endParaRPr>
          </a:p>
        </p:txBody>
      </p:sp>
      <p:sp>
        <p:nvSpPr>
          <p:cNvPr id="3" name="Marcador de pie de página 2">
            <a:extLst>
              <a:ext uri="{FF2B5EF4-FFF2-40B4-BE49-F238E27FC236}">
                <a16:creationId xmlns:a16="http://schemas.microsoft.com/office/drawing/2014/main" id="{8D166242-F97F-904F-905D-5A5FC953FF72}"/>
              </a:ext>
            </a:extLst>
          </p:cNvPr>
          <p:cNvSpPr>
            <a:spLocks noGrp="1"/>
          </p:cNvSpPr>
          <p:nvPr>
            <p:ph type="ftr" sz="quarter" idx="4294967295"/>
          </p:nvPr>
        </p:nvSpPr>
        <p:spPr>
          <a:xfrm>
            <a:off x="0" y="6456363"/>
            <a:ext cx="2743200" cy="185737"/>
          </a:xfrm>
        </p:spPr>
        <p:txBody>
          <a:bodyPr/>
          <a:lstStyle/>
          <a:p>
            <a:pPr marL="12700">
              <a:spcBef>
                <a:spcPts val="15"/>
              </a:spcBef>
            </a:pPr>
            <a:r>
              <a:rPr lang="en-AU" spc="-5" noProof="0" dirty="0"/>
              <a:t>LAB 2.0. COUPLERS</a:t>
            </a:r>
          </a:p>
        </p:txBody>
      </p:sp>
      <p:pic>
        <p:nvPicPr>
          <p:cNvPr id="83" name="Gráfico 82">
            <a:extLst>
              <a:ext uri="{FF2B5EF4-FFF2-40B4-BE49-F238E27FC236}">
                <a16:creationId xmlns:a16="http://schemas.microsoft.com/office/drawing/2014/main" id="{F6221001-CACE-1DB8-B659-BE303ECEFF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pic>
        <p:nvPicPr>
          <p:cNvPr id="4" name="Obraz 3">
            <a:extLst>
              <a:ext uri="{FF2B5EF4-FFF2-40B4-BE49-F238E27FC236}">
                <a16:creationId xmlns:a16="http://schemas.microsoft.com/office/drawing/2014/main" id="{024CCABF-5692-AC4B-4C4F-07218466C5C1}"/>
              </a:ext>
            </a:extLst>
          </p:cNvPr>
          <p:cNvPicPr>
            <a:picLocks noChangeAspect="1"/>
          </p:cNvPicPr>
          <p:nvPr/>
        </p:nvPicPr>
        <p:blipFill>
          <a:blip r:embed="rId4"/>
          <a:stretch>
            <a:fillRect/>
          </a:stretch>
        </p:blipFill>
        <p:spPr>
          <a:xfrm>
            <a:off x="152400" y="1098156"/>
            <a:ext cx="3929063" cy="2686126"/>
          </a:xfrm>
          <a:prstGeom prst="rect">
            <a:avLst/>
          </a:prstGeom>
        </p:spPr>
      </p:pic>
      <p:pic>
        <p:nvPicPr>
          <p:cNvPr id="6" name="Obraz 5">
            <a:extLst>
              <a:ext uri="{FF2B5EF4-FFF2-40B4-BE49-F238E27FC236}">
                <a16:creationId xmlns:a16="http://schemas.microsoft.com/office/drawing/2014/main" id="{0FE057B0-1219-38C2-E74C-F7C38B55549F}"/>
              </a:ext>
            </a:extLst>
          </p:cNvPr>
          <p:cNvPicPr>
            <a:picLocks noChangeAspect="1"/>
          </p:cNvPicPr>
          <p:nvPr/>
        </p:nvPicPr>
        <p:blipFill>
          <a:blip r:embed="rId5"/>
          <a:stretch>
            <a:fillRect/>
          </a:stretch>
        </p:blipFill>
        <p:spPr>
          <a:xfrm>
            <a:off x="4800600" y="1221105"/>
            <a:ext cx="4011926" cy="2686126"/>
          </a:xfrm>
          <a:prstGeom prst="rect">
            <a:avLst/>
          </a:prstGeom>
        </p:spPr>
      </p:pic>
      <p:pic>
        <p:nvPicPr>
          <p:cNvPr id="8" name="Obraz 7">
            <a:extLst>
              <a:ext uri="{FF2B5EF4-FFF2-40B4-BE49-F238E27FC236}">
                <a16:creationId xmlns:a16="http://schemas.microsoft.com/office/drawing/2014/main" id="{08D75A4A-069F-DE9A-7C8E-21BFDEF54B37}"/>
              </a:ext>
            </a:extLst>
          </p:cNvPr>
          <p:cNvPicPr>
            <a:picLocks noChangeAspect="1"/>
          </p:cNvPicPr>
          <p:nvPr/>
        </p:nvPicPr>
        <p:blipFill>
          <a:blip r:embed="rId6"/>
          <a:stretch>
            <a:fillRect/>
          </a:stretch>
        </p:blipFill>
        <p:spPr>
          <a:xfrm>
            <a:off x="502443" y="3784282"/>
            <a:ext cx="4275708" cy="2857818"/>
          </a:xfrm>
          <a:prstGeom prst="rect">
            <a:avLst/>
          </a:prstGeom>
        </p:spPr>
      </p:pic>
      <p:pic>
        <p:nvPicPr>
          <p:cNvPr id="11" name="Obraz 10">
            <a:extLst>
              <a:ext uri="{FF2B5EF4-FFF2-40B4-BE49-F238E27FC236}">
                <a16:creationId xmlns:a16="http://schemas.microsoft.com/office/drawing/2014/main" id="{853903C8-0BCC-19A0-B804-88ADA9345B45}"/>
              </a:ext>
            </a:extLst>
          </p:cNvPr>
          <p:cNvPicPr>
            <a:picLocks noChangeAspect="1"/>
          </p:cNvPicPr>
          <p:nvPr/>
        </p:nvPicPr>
        <p:blipFill>
          <a:blip r:embed="rId7"/>
          <a:stretch>
            <a:fillRect/>
          </a:stretch>
        </p:blipFill>
        <p:spPr>
          <a:xfrm>
            <a:off x="5797782" y="4026200"/>
            <a:ext cx="4011926" cy="2693031"/>
          </a:xfrm>
          <a:prstGeom prst="rect">
            <a:avLst/>
          </a:prstGeom>
        </p:spPr>
      </p:pic>
    </p:spTree>
    <p:extLst>
      <p:ext uri="{BB962C8B-B14F-4D97-AF65-F5344CB8AC3E}">
        <p14:creationId xmlns:p14="http://schemas.microsoft.com/office/powerpoint/2010/main" val="1025349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C93A0-D68C-9ADD-4142-1B6CDBB8C09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7FA1ACC-CE87-AF86-E0E2-08ACF1F7FA52}"/>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AU" sz="2500" noProof="0" dirty="0"/>
              <a:t>Learning outcome #2 – Directional coupler length and coupling coefficient</a:t>
            </a:r>
            <a:br>
              <a:rPr lang="en-AU" sz="2500" spc="-5" noProof="0" dirty="0">
                <a:latin typeface="+mj-lt"/>
                <a:cs typeface="Lucida Sans"/>
              </a:rPr>
            </a:br>
            <a:r>
              <a:rPr lang="en-AU" b="0" noProof="0" dirty="0"/>
              <a:t>Wavelength 1.5 µm – width 1.2 µm – gap 0.6 µm – thickness 300 nm</a:t>
            </a:r>
            <a:endParaRPr lang="en-AU" sz="2500" b="0" noProof="0" dirty="0">
              <a:latin typeface="+mj-lt"/>
              <a:cs typeface="Lucida Sans"/>
            </a:endParaRPr>
          </a:p>
        </p:txBody>
      </p:sp>
      <p:pic>
        <p:nvPicPr>
          <p:cNvPr id="83" name="Gráfico 82">
            <a:extLst>
              <a:ext uri="{FF2B5EF4-FFF2-40B4-BE49-F238E27FC236}">
                <a16:creationId xmlns:a16="http://schemas.microsoft.com/office/drawing/2014/main" id="{CFDE2E4A-23D3-F795-7700-952812773E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5CED47C-2844-2142-BB15-7AF32102AD86}"/>
              </a:ext>
            </a:extLst>
          </p:cNvPr>
          <p:cNvSpPr>
            <a:spLocks noGrp="1"/>
          </p:cNvSpPr>
          <p:nvPr>
            <p:ph type="sldNum" sz="quarter" idx="7"/>
          </p:nvPr>
        </p:nvSpPr>
        <p:spPr/>
        <p:txBody>
          <a:bodyPr/>
          <a:lstStyle/>
          <a:p>
            <a:fld id="{B6F15528-21DE-4FAA-801E-634DDDAF4B2B}" type="slidenum">
              <a:rPr lang="en-AU" noProof="0" smtClean="0"/>
              <a:t>7</a:t>
            </a:fld>
            <a:endParaRPr lang="en-AU" noProof="0" dirty="0"/>
          </a:p>
        </p:txBody>
      </p:sp>
      <p:sp>
        <p:nvSpPr>
          <p:cNvPr id="3" name="Marcador de pie de página 2">
            <a:extLst>
              <a:ext uri="{FF2B5EF4-FFF2-40B4-BE49-F238E27FC236}">
                <a16:creationId xmlns:a16="http://schemas.microsoft.com/office/drawing/2014/main" id="{18CB8583-62BD-1BC5-7359-42AE480EF44C}"/>
              </a:ext>
            </a:extLst>
          </p:cNvPr>
          <p:cNvSpPr>
            <a:spLocks noGrp="1"/>
          </p:cNvSpPr>
          <p:nvPr>
            <p:ph type="ftr" sz="quarter" idx="5"/>
          </p:nvPr>
        </p:nvSpPr>
        <p:spPr/>
        <p:txBody>
          <a:bodyPr/>
          <a:lstStyle/>
          <a:p>
            <a:pPr marL="12700">
              <a:spcBef>
                <a:spcPts val="15"/>
              </a:spcBef>
            </a:pPr>
            <a:r>
              <a:rPr lang="en-AU" spc="-5" noProof="0" dirty="0"/>
              <a:t>LAB 2.0. COUPLERS</a:t>
            </a:r>
          </a:p>
        </p:txBody>
      </p:sp>
      <p:sp>
        <p:nvSpPr>
          <p:cNvPr id="2" name="CuadroTexto 1">
            <a:extLst>
              <a:ext uri="{FF2B5EF4-FFF2-40B4-BE49-F238E27FC236}">
                <a16:creationId xmlns:a16="http://schemas.microsoft.com/office/drawing/2014/main" id="{B2A1CDDE-3B4A-9089-4258-90B6744283D8}"/>
              </a:ext>
            </a:extLst>
          </p:cNvPr>
          <p:cNvSpPr txBox="1"/>
          <p:nvPr/>
        </p:nvSpPr>
        <p:spPr>
          <a:xfrm>
            <a:off x="609441" y="4322467"/>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AU" sz="1200" noProof="0" dirty="0">
                <a:latin typeface="Arial" panose="020B0604020202020204" pitchFamily="34" charset="0"/>
                <a:cs typeface="Arial" panose="020B0604020202020204" pitchFamily="34" charset="0"/>
              </a:rPr>
              <a:t>Comment results (distance needed for a complete energy transfer between waveguides, distance needed for splitting power in half.. )</a:t>
            </a:r>
          </a:p>
          <a:p>
            <a:pPr algn="just"/>
            <a:endParaRPr lang="en-AU" sz="1200" noProof="0" dirty="0">
              <a:latin typeface="Arial" panose="020B0604020202020204" pitchFamily="34" charset="0"/>
              <a:cs typeface="Arial" panose="020B0604020202020204" pitchFamily="34" charset="0"/>
            </a:endParaRPr>
          </a:p>
          <a:p>
            <a:pPr algn="just"/>
            <a:r>
              <a:rPr lang="en-US" sz="1200" b="1" noProof="0" dirty="0">
                <a:latin typeface="Arial" panose="020B0604020202020204" pitchFamily="34" charset="0"/>
                <a:cs typeface="Arial" panose="020B0604020202020204" pitchFamily="34" charset="0"/>
              </a:rPr>
              <a:t>distance needed for a complete energy transfer between waveguides: </a:t>
            </a:r>
            <a:r>
              <a:rPr lang="en-US" sz="1200" noProof="0" dirty="0">
                <a:latin typeface="Arial" panose="020B0604020202020204" pitchFamily="34" charset="0"/>
                <a:cs typeface="Arial" panose="020B0604020202020204" pitchFamily="34" charset="0"/>
              </a:rPr>
              <a:t>93.83767537 um</a:t>
            </a:r>
            <a:endParaRPr lang="pl-PL" sz="1200" noProof="0" dirty="0">
              <a:latin typeface="Arial" panose="020B0604020202020204" pitchFamily="34" charset="0"/>
              <a:cs typeface="Arial" panose="020B0604020202020204" pitchFamily="34" charset="0"/>
            </a:endParaRPr>
          </a:p>
          <a:p>
            <a:pPr algn="just"/>
            <a:r>
              <a:rPr lang="en-US" sz="1200" b="1" noProof="0" dirty="0">
                <a:latin typeface="Arial" panose="020B0604020202020204" pitchFamily="34" charset="0"/>
                <a:cs typeface="Arial" panose="020B0604020202020204" pitchFamily="34" charset="0"/>
              </a:rPr>
              <a:t>distance needed for splitting power in half: </a:t>
            </a:r>
            <a:r>
              <a:rPr lang="en-US" sz="1200" noProof="0" dirty="0">
                <a:latin typeface="Arial" panose="020B0604020202020204" pitchFamily="34" charset="0"/>
                <a:cs typeface="Arial" panose="020B0604020202020204" pitchFamily="34" charset="0"/>
              </a:rPr>
              <a:t>46.91883768 um</a:t>
            </a:r>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74B18126-0D7E-E3B4-625C-B1D1AAB78045}"/>
              </a:ext>
            </a:extLst>
          </p:cNvPr>
          <p:cNvSpPr/>
          <p:nvPr/>
        </p:nvSpPr>
        <p:spPr>
          <a:xfrm>
            <a:off x="609441" y="1418373"/>
            <a:ext cx="11199971" cy="26964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8" name="CuadroTexto 7">
            <a:extLst>
              <a:ext uri="{FF2B5EF4-FFF2-40B4-BE49-F238E27FC236}">
                <a16:creationId xmlns:a16="http://schemas.microsoft.com/office/drawing/2014/main" id="{1E419B7F-9EC5-A781-2DE8-B7FD271FD8B2}"/>
              </a:ext>
            </a:extLst>
          </p:cNvPr>
          <p:cNvSpPr txBox="1"/>
          <p:nvPr/>
        </p:nvSpPr>
        <p:spPr>
          <a:xfrm>
            <a:off x="3992754" y="2464876"/>
            <a:ext cx="4546634" cy="923330"/>
          </a:xfrm>
          <a:prstGeom prst="rect">
            <a:avLst/>
          </a:prstGeom>
          <a:noFill/>
        </p:spPr>
        <p:txBody>
          <a:bodyPr wrap="square" rtlCol="0">
            <a:spAutoFit/>
          </a:bodyPr>
          <a:lstStyle/>
          <a:p>
            <a:pPr algn="ctr"/>
            <a:r>
              <a:rPr lang="en-AU" b="1" noProof="0" dirty="0"/>
              <a:t>deep</a:t>
            </a:r>
            <a:r>
              <a:rPr lang="en-AU" noProof="0" dirty="0"/>
              <a:t> waveguide</a:t>
            </a:r>
          </a:p>
          <a:p>
            <a:pPr algn="ctr"/>
            <a:endParaRPr lang="en-AU" noProof="0" dirty="0"/>
          </a:p>
          <a:p>
            <a:pPr algn="ctr"/>
            <a:r>
              <a:rPr lang="en-AU" noProof="0" dirty="0"/>
              <a:t>Paste L/</a:t>
            </a:r>
            <a:r>
              <a:rPr lang="en-AU" noProof="0" dirty="0" err="1"/>
              <a:t>Lpi</a:t>
            </a:r>
            <a:r>
              <a:rPr lang="en-AU" noProof="0" dirty="0"/>
              <a:t> vs K plot here</a:t>
            </a:r>
            <a:endParaRPr lang="en-AU" i="1" noProof="0" dirty="0"/>
          </a:p>
        </p:txBody>
      </p:sp>
      <p:pic>
        <p:nvPicPr>
          <p:cNvPr id="6" name="Imagen 5" descr="Forma&#10;&#10;Descripción generada automáticamente con confianza media">
            <a:extLst>
              <a:ext uri="{FF2B5EF4-FFF2-40B4-BE49-F238E27FC236}">
                <a16:creationId xmlns:a16="http://schemas.microsoft.com/office/drawing/2014/main" id="{7157C760-5D6E-43FC-81B1-B029F251C5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pic>
        <p:nvPicPr>
          <p:cNvPr id="14" name="Obraz 13">
            <a:extLst>
              <a:ext uri="{FF2B5EF4-FFF2-40B4-BE49-F238E27FC236}">
                <a16:creationId xmlns:a16="http://schemas.microsoft.com/office/drawing/2014/main" id="{0E1EECCB-D819-5DBC-8B50-6D7D90287B6F}"/>
              </a:ext>
            </a:extLst>
          </p:cNvPr>
          <p:cNvPicPr>
            <a:picLocks noChangeAspect="1"/>
          </p:cNvPicPr>
          <p:nvPr/>
        </p:nvPicPr>
        <p:blipFill>
          <a:blip r:embed="rId5"/>
          <a:stretch>
            <a:fillRect/>
          </a:stretch>
        </p:blipFill>
        <p:spPr>
          <a:xfrm>
            <a:off x="4953000" y="1607085"/>
            <a:ext cx="3167881" cy="2507715"/>
          </a:xfrm>
          <a:prstGeom prst="rect">
            <a:avLst/>
          </a:prstGeom>
        </p:spPr>
      </p:pic>
    </p:spTree>
    <p:extLst>
      <p:ext uri="{BB962C8B-B14F-4D97-AF65-F5344CB8AC3E}">
        <p14:creationId xmlns:p14="http://schemas.microsoft.com/office/powerpoint/2010/main" val="3661564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AU" sz="2500" noProof="0" dirty="0"/>
              <a:t>Learning outcome #3 – 2x2 Directional Coupler</a:t>
            </a:r>
            <a:br>
              <a:rPr lang="en-AU" sz="2500" spc="-5" noProof="0" dirty="0">
                <a:latin typeface="+mj-lt"/>
                <a:cs typeface="Lucida Sans"/>
              </a:rPr>
            </a:br>
            <a:r>
              <a:rPr lang="en-AU" b="0" noProof="0" dirty="0"/>
              <a:t>Wavelength 1.55 µm – Sweep gaps between 0.2 and 1.2 µm in steps of 0.2 µm</a:t>
            </a:r>
            <a:endParaRPr lang="en-AU" sz="2500" b="0" noProof="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n-AU" noProof="0" smtClean="0"/>
              <a:t>8</a:t>
            </a:fld>
            <a:endParaRPr lang="en-AU" noProof="0" dirty="0"/>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n-AU" spc="-5" noProof="0" dirty="0"/>
              <a:t>LAB 2.0. COUPLERS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AU" sz="1200" noProof="0" dirty="0">
                <a:latin typeface="Arial" panose="020B0604020202020204" pitchFamily="34" charset="0"/>
                <a:cs typeface="Arial" panose="020B0604020202020204" pitchFamily="34" charset="0"/>
              </a:rPr>
              <a:t>Comment results (Coupling relationship, </a:t>
            </a:r>
            <a:r>
              <a:rPr lang="en-AU" sz="1200" noProof="0" dirty="0" err="1">
                <a:latin typeface="Arial" panose="020B0604020202020204" pitchFamily="34" charset="0"/>
                <a:cs typeface="Arial" panose="020B0604020202020204" pitchFamily="34" charset="0"/>
              </a:rPr>
              <a:t>Lpi</a:t>
            </a:r>
            <a:r>
              <a:rPr lang="en-AU" sz="1200" noProof="0" dirty="0">
                <a:latin typeface="Arial" panose="020B0604020202020204" pitchFamily="34" charset="0"/>
                <a:cs typeface="Arial" panose="020B0604020202020204" pitchFamily="34" charset="0"/>
              </a:rPr>
              <a:t>, losses, … )</a:t>
            </a:r>
          </a:p>
          <a:p>
            <a:pPr algn="just"/>
            <a:endParaRPr lang="en-AU" sz="1200" noProof="0" dirty="0">
              <a:latin typeface="Arial" panose="020B0604020202020204" pitchFamily="34" charset="0"/>
              <a:cs typeface="Arial" panose="020B0604020202020204" pitchFamily="34" charset="0"/>
            </a:endParaRPr>
          </a:p>
          <a:p>
            <a:pPr algn="just"/>
            <a:r>
              <a:rPr lang="en-US" sz="1200" noProof="0" dirty="0">
                <a:latin typeface="Arial" panose="020B0604020202020204" pitchFamily="34" charset="0"/>
                <a:cs typeface="Arial" panose="020B0604020202020204" pitchFamily="34" charset="0"/>
              </a:rPr>
              <a:t>An increase in the gap width decreases the coupling strength, which leads to an exponentially longer coupling length (</a:t>
            </a:r>
            <a:r>
              <a:rPr lang="en-US" sz="1200" noProof="0" dirty="0" err="1">
                <a:latin typeface="Arial" panose="020B0604020202020204" pitchFamily="34" charset="0"/>
                <a:cs typeface="Arial" panose="020B0604020202020204" pitchFamily="34" charset="0"/>
              </a:rPr>
              <a:t>Lpi</a:t>
            </a:r>
            <a:r>
              <a:rPr lang="en-US" sz="1200" noProof="0" dirty="0">
                <a:latin typeface="Arial" panose="020B0604020202020204" pitchFamily="34" charset="0"/>
                <a:cs typeface="Arial" panose="020B0604020202020204" pitchFamily="34" charset="0"/>
              </a:rPr>
              <a:t>) and lower insertion losses.</a:t>
            </a:r>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1077218"/>
          </a:xfrm>
          <a:prstGeom prst="rect">
            <a:avLst/>
          </a:prstGeom>
          <a:noFill/>
        </p:spPr>
        <p:txBody>
          <a:bodyPr wrap="square" rtlCol="0">
            <a:spAutoFit/>
          </a:bodyPr>
          <a:lstStyle/>
          <a:p>
            <a:pPr algn="ctr"/>
            <a:r>
              <a:rPr lang="en-AU" b="1" noProof="0" dirty="0"/>
              <a:t>deep</a:t>
            </a:r>
            <a:r>
              <a:rPr lang="en-AU" noProof="0" dirty="0"/>
              <a:t> waveguide</a:t>
            </a:r>
          </a:p>
          <a:p>
            <a:pPr algn="ctr"/>
            <a:endParaRPr lang="en-AU" noProof="0" dirty="0"/>
          </a:p>
          <a:p>
            <a:pPr algn="ctr"/>
            <a:r>
              <a:rPr lang="en-AU" noProof="0" dirty="0"/>
              <a:t>Paste propagation plots and output text here </a:t>
            </a:r>
            <a:r>
              <a:rPr lang="en-AU" sz="2800" b="1" i="1" noProof="0" dirty="0">
                <a:solidFill>
                  <a:srgbClr val="FF0000"/>
                </a:solidFill>
              </a:rPr>
              <a:t>(next slides)</a:t>
            </a:r>
          </a:p>
        </p:txBody>
      </p:sp>
    </p:spTree>
    <p:extLst>
      <p:ext uri="{BB962C8B-B14F-4D97-AF65-F5344CB8AC3E}">
        <p14:creationId xmlns:p14="http://schemas.microsoft.com/office/powerpoint/2010/main" val="1558326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CABE6-3669-5E53-8262-B2B7400685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9482922-DC52-6A26-4084-51AF5E819BEF}"/>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AU" sz="2500" noProof="0" dirty="0"/>
              <a:t>Learning outcome #2 – Directional coupler length and coupling coefficient</a:t>
            </a:r>
            <a:br>
              <a:rPr lang="en-AU" sz="2500" spc="-5" noProof="0" dirty="0">
                <a:latin typeface="+mj-lt"/>
                <a:cs typeface="Lucida Sans"/>
              </a:rPr>
            </a:br>
            <a:r>
              <a:rPr lang="en-AU" b="0" noProof="0" dirty="0"/>
              <a:t>Wavelength 1.5 µm – width 1.2 µm – gap 0.6 µm – thickness 300 nm</a:t>
            </a:r>
            <a:endParaRPr lang="en-AU" sz="2500" b="0" noProof="0" dirty="0">
              <a:latin typeface="+mj-lt"/>
              <a:cs typeface="Lucida Sans"/>
            </a:endParaRPr>
          </a:p>
        </p:txBody>
      </p:sp>
      <p:pic>
        <p:nvPicPr>
          <p:cNvPr id="83" name="Gráfico 82">
            <a:extLst>
              <a:ext uri="{FF2B5EF4-FFF2-40B4-BE49-F238E27FC236}">
                <a16:creationId xmlns:a16="http://schemas.microsoft.com/office/drawing/2014/main" id="{DEF2B14F-262B-2E79-8FC1-613CC2EC66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0D55A42-1339-6CAF-A50B-04C4D6CE35D3}"/>
              </a:ext>
            </a:extLst>
          </p:cNvPr>
          <p:cNvSpPr>
            <a:spLocks noGrp="1"/>
          </p:cNvSpPr>
          <p:nvPr>
            <p:ph type="sldNum" sz="quarter" idx="7"/>
          </p:nvPr>
        </p:nvSpPr>
        <p:spPr/>
        <p:txBody>
          <a:bodyPr/>
          <a:lstStyle/>
          <a:p>
            <a:fld id="{B6F15528-21DE-4FAA-801E-634DDDAF4B2B}" type="slidenum">
              <a:rPr lang="en-AU" noProof="0" smtClean="0"/>
              <a:t>9</a:t>
            </a:fld>
            <a:endParaRPr lang="en-AU" noProof="0" dirty="0"/>
          </a:p>
        </p:txBody>
      </p:sp>
      <p:sp>
        <p:nvSpPr>
          <p:cNvPr id="3" name="Marcador de pie de página 2">
            <a:extLst>
              <a:ext uri="{FF2B5EF4-FFF2-40B4-BE49-F238E27FC236}">
                <a16:creationId xmlns:a16="http://schemas.microsoft.com/office/drawing/2014/main" id="{568A87B6-4936-C7A0-4463-CD3314075ECC}"/>
              </a:ext>
            </a:extLst>
          </p:cNvPr>
          <p:cNvSpPr>
            <a:spLocks noGrp="1"/>
          </p:cNvSpPr>
          <p:nvPr>
            <p:ph type="ftr" sz="quarter" idx="5"/>
          </p:nvPr>
        </p:nvSpPr>
        <p:spPr/>
        <p:txBody>
          <a:bodyPr/>
          <a:lstStyle/>
          <a:p>
            <a:pPr marL="12700">
              <a:spcBef>
                <a:spcPts val="15"/>
              </a:spcBef>
            </a:pPr>
            <a:r>
              <a:rPr lang="en-AU" spc="-5" noProof="0" dirty="0"/>
              <a:t>LAB 2.0. COUPLERS</a:t>
            </a:r>
          </a:p>
        </p:txBody>
      </p:sp>
      <p:pic>
        <p:nvPicPr>
          <p:cNvPr id="4" name="Obraz 3">
            <a:extLst>
              <a:ext uri="{FF2B5EF4-FFF2-40B4-BE49-F238E27FC236}">
                <a16:creationId xmlns:a16="http://schemas.microsoft.com/office/drawing/2014/main" id="{A7143535-F3EF-798C-F476-5003C50F3FE3}"/>
              </a:ext>
            </a:extLst>
          </p:cNvPr>
          <p:cNvPicPr>
            <a:picLocks noChangeAspect="1"/>
          </p:cNvPicPr>
          <p:nvPr/>
        </p:nvPicPr>
        <p:blipFill>
          <a:blip r:embed="rId4"/>
          <a:stretch>
            <a:fillRect/>
          </a:stretch>
        </p:blipFill>
        <p:spPr>
          <a:xfrm>
            <a:off x="304800" y="1548001"/>
            <a:ext cx="5662151" cy="4374259"/>
          </a:xfrm>
          <a:prstGeom prst="rect">
            <a:avLst/>
          </a:prstGeom>
        </p:spPr>
      </p:pic>
      <p:pic>
        <p:nvPicPr>
          <p:cNvPr id="7" name="Obraz 6">
            <a:extLst>
              <a:ext uri="{FF2B5EF4-FFF2-40B4-BE49-F238E27FC236}">
                <a16:creationId xmlns:a16="http://schemas.microsoft.com/office/drawing/2014/main" id="{1351CFCA-5976-28A3-0E40-53B4279FCDE9}"/>
              </a:ext>
            </a:extLst>
          </p:cNvPr>
          <p:cNvPicPr>
            <a:picLocks noChangeAspect="1"/>
          </p:cNvPicPr>
          <p:nvPr/>
        </p:nvPicPr>
        <p:blipFill>
          <a:blip r:embed="rId5"/>
          <a:stretch>
            <a:fillRect/>
          </a:stretch>
        </p:blipFill>
        <p:spPr>
          <a:xfrm>
            <a:off x="6152525" y="1684683"/>
            <a:ext cx="5791702" cy="4122777"/>
          </a:xfrm>
          <a:prstGeom prst="rect">
            <a:avLst/>
          </a:prstGeom>
        </p:spPr>
      </p:pic>
      <p:sp>
        <p:nvSpPr>
          <p:cNvPr id="8" name="pole tekstowe 7">
            <a:extLst>
              <a:ext uri="{FF2B5EF4-FFF2-40B4-BE49-F238E27FC236}">
                <a16:creationId xmlns:a16="http://schemas.microsoft.com/office/drawing/2014/main" id="{A3C763C3-8332-F5AA-9C1F-6917D08B4F14}"/>
              </a:ext>
            </a:extLst>
          </p:cNvPr>
          <p:cNvSpPr txBox="1"/>
          <p:nvPr/>
        </p:nvSpPr>
        <p:spPr>
          <a:xfrm>
            <a:off x="1524000" y="1186785"/>
            <a:ext cx="1427584" cy="369332"/>
          </a:xfrm>
          <a:prstGeom prst="rect">
            <a:avLst/>
          </a:prstGeom>
          <a:noFill/>
        </p:spPr>
        <p:txBody>
          <a:bodyPr wrap="square" rtlCol="0">
            <a:spAutoFit/>
          </a:bodyPr>
          <a:lstStyle/>
          <a:p>
            <a:r>
              <a:rPr lang="en-AU" noProof="0" dirty="0"/>
              <a:t>Gap: 200nm</a:t>
            </a:r>
          </a:p>
        </p:txBody>
      </p:sp>
      <p:sp>
        <p:nvSpPr>
          <p:cNvPr id="9" name="pole tekstowe 8">
            <a:extLst>
              <a:ext uri="{FF2B5EF4-FFF2-40B4-BE49-F238E27FC236}">
                <a16:creationId xmlns:a16="http://schemas.microsoft.com/office/drawing/2014/main" id="{ADD82D11-08C1-A193-7059-886D0DDA19E5}"/>
              </a:ext>
            </a:extLst>
          </p:cNvPr>
          <p:cNvSpPr txBox="1"/>
          <p:nvPr/>
        </p:nvSpPr>
        <p:spPr>
          <a:xfrm>
            <a:off x="8816340" y="1302651"/>
            <a:ext cx="1623060" cy="369332"/>
          </a:xfrm>
          <a:prstGeom prst="rect">
            <a:avLst/>
          </a:prstGeom>
          <a:noFill/>
        </p:spPr>
        <p:txBody>
          <a:bodyPr wrap="square" rtlCol="0">
            <a:spAutoFit/>
          </a:bodyPr>
          <a:lstStyle/>
          <a:p>
            <a:r>
              <a:rPr lang="en-AU" noProof="0" dirty="0"/>
              <a:t>Gap: 400nm</a:t>
            </a:r>
          </a:p>
        </p:txBody>
      </p:sp>
    </p:spTree>
    <p:extLst>
      <p:ext uri="{BB962C8B-B14F-4D97-AF65-F5344CB8AC3E}">
        <p14:creationId xmlns:p14="http://schemas.microsoft.com/office/powerpoint/2010/main" val="24249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8A70B-ECE6-F90F-78FB-6F7F4BEB191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3FC7FCF-DDB4-4FE7-4114-9D8BCF23BF2C}"/>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AU" sz="2500" noProof="0" dirty="0"/>
              <a:t>Learning outcome #2 – Directional coupler length and coupling coefficient</a:t>
            </a:r>
            <a:br>
              <a:rPr lang="en-AU" sz="2500" spc="-5" noProof="0" dirty="0">
                <a:latin typeface="+mj-lt"/>
                <a:cs typeface="Lucida Sans"/>
              </a:rPr>
            </a:br>
            <a:r>
              <a:rPr lang="en-AU" b="0" noProof="0" dirty="0"/>
              <a:t>Wavelength 1.5 µm – width 1.2 µm – gap 0.6 µm – thickness 300 nm</a:t>
            </a:r>
            <a:endParaRPr lang="en-AU" sz="2500" b="0" noProof="0" dirty="0">
              <a:latin typeface="+mj-lt"/>
              <a:cs typeface="Lucida Sans"/>
            </a:endParaRPr>
          </a:p>
        </p:txBody>
      </p:sp>
      <p:pic>
        <p:nvPicPr>
          <p:cNvPr id="83" name="Gráfico 82">
            <a:extLst>
              <a:ext uri="{FF2B5EF4-FFF2-40B4-BE49-F238E27FC236}">
                <a16:creationId xmlns:a16="http://schemas.microsoft.com/office/drawing/2014/main" id="{2BB41E2A-44E4-8D0E-A5F7-73C8EBAB8A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356795C-F4C4-449C-8980-840B29EE62F7}"/>
              </a:ext>
            </a:extLst>
          </p:cNvPr>
          <p:cNvSpPr>
            <a:spLocks noGrp="1"/>
          </p:cNvSpPr>
          <p:nvPr>
            <p:ph type="sldNum" sz="quarter" idx="7"/>
          </p:nvPr>
        </p:nvSpPr>
        <p:spPr/>
        <p:txBody>
          <a:bodyPr/>
          <a:lstStyle/>
          <a:p>
            <a:fld id="{B6F15528-21DE-4FAA-801E-634DDDAF4B2B}" type="slidenum">
              <a:rPr lang="en-AU" noProof="0" smtClean="0"/>
              <a:t>10</a:t>
            </a:fld>
            <a:endParaRPr lang="en-AU" noProof="0" dirty="0"/>
          </a:p>
        </p:txBody>
      </p:sp>
      <p:sp>
        <p:nvSpPr>
          <p:cNvPr id="3" name="Marcador de pie de página 2">
            <a:extLst>
              <a:ext uri="{FF2B5EF4-FFF2-40B4-BE49-F238E27FC236}">
                <a16:creationId xmlns:a16="http://schemas.microsoft.com/office/drawing/2014/main" id="{3648D08A-BE21-12C7-9D5A-8FB5A0E01244}"/>
              </a:ext>
            </a:extLst>
          </p:cNvPr>
          <p:cNvSpPr>
            <a:spLocks noGrp="1"/>
          </p:cNvSpPr>
          <p:nvPr>
            <p:ph type="ftr" sz="quarter" idx="5"/>
          </p:nvPr>
        </p:nvSpPr>
        <p:spPr/>
        <p:txBody>
          <a:bodyPr/>
          <a:lstStyle/>
          <a:p>
            <a:pPr marL="12700">
              <a:spcBef>
                <a:spcPts val="15"/>
              </a:spcBef>
            </a:pPr>
            <a:r>
              <a:rPr lang="en-AU" spc="-5" noProof="0" dirty="0"/>
              <a:t>LAB 2.0. COUPLERS</a:t>
            </a:r>
          </a:p>
        </p:txBody>
      </p:sp>
      <p:pic>
        <p:nvPicPr>
          <p:cNvPr id="5" name="Obraz 4">
            <a:extLst>
              <a:ext uri="{FF2B5EF4-FFF2-40B4-BE49-F238E27FC236}">
                <a16:creationId xmlns:a16="http://schemas.microsoft.com/office/drawing/2014/main" id="{48F949DB-0E49-49D3-FF26-1780F22EF820}"/>
              </a:ext>
            </a:extLst>
          </p:cNvPr>
          <p:cNvPicPr>
            <a:picLocks noChangeAspect="1"/>
          </p:cNvPicPr>
          <p:nvPr/>
        </p:nvPicPr>
        <p:blipFill>
          <a:blip r:embed="rId4"/>
          <a:stretch>
            <a:fillRect/>
          </a:stretch>
        </p:blipFill>
        <p:spPr>
          <a:xfrm>
            <a:off x="152400" y="1768033"/>
            <a:ext cx="5768840" cy="3863675"/>
          </a:xfrm>
          <a:prstGeom prst="rect">
            <a:avLst/>
          </a:prstGeom>
        </p:spPr>
      </p:pic>
      <p:pic>
        <p:nvPicPr>
          <p:cNvPr id="8" name="Obraz 7">
            <a:extLst>
              <a:ext uri="{FF2B5EF4-FFF2-40B4-BE49-F238E27FC236}">
                <a16:creationId xmlns:a16="http://schemas.microsoft.com/office/drawing/2014/main" id="{BAE06D1D-BE13-BE35-2966-60F5AAC1659B}"/>
              </a:ext>
            </a:extLst>
          </p:cNvPr>
          <p:cNvPicPr>
            <a:picLocks noChangeAspect="1"/>
          </p:cNvPicPr>
          <p:nvPr/>
        </p:nvPicPr>
        <p:blipFill>
          <a:blip r:embed="rId5"/>
          <a:stretch>
            <a:fillRect/>
          </a:stretch>
        </p:blipFill>
        <p:spPr>
          <a:xfrm>
            <a:off x="6183005" y="1918093"/>
            <a:ext cx="5829805" cy="3612193"/>
          </a:xfrm>
          <a:prstGeom prst="rect">
            <a:avLst/>
          </a:prstGeom>
        </p:spPr>
      </p:pic>
      <p:sp>
        <p:nvSpPr>
          <p:cNvPr id="9" name="pole tekstowe 8">
            <a:extLst>
              <a:ext uri="{FF2B5EF4-FFF2-40B4-BE49-F238E27FC236}">
                <a16:creationId xmlns:a16="http://schemas.microsoft.com/office/drawing/2014/main" id="{5B6D14F0-F4C5-F40A-19E8-157FDE6355DE}"/>
              </a:ext>
            </a:extLst>
          </p:cNvPr>
          <p:cNvSpPr txBox="1"/>
          <p:nvPr/>
        </p:nvSpPr>
        <p:spPr>
          <a:xfrm>
            <a:off x="2057400" y="1359318"/>
            <a:ext cx="1623060" cy="369332"/>
          </a:xfrm>
          <a:prstGeom prst="rect">
            <a:avLst/>
          </a:prstGeom>
          <a:noFill/>
        </p:spPr>
        <p:txBody>
          <a:bodyPr wrap="square" rtlCol="0">
            <a:spAutoFit/>
          </a:bodyPr>
          <a:lstStyle/>
          <a:p>
            <a:r>
              <a:rPr lang="en-AU" noProof="0" dirty="0"/>
              <a:t>Gap: 600nm</a:t>
            </a:r>
          </a:p>
        </p:txBody>
      </p:sp>
      <p:sp>
        <p:nvSpPr>
          <p:cNvPr id="10" name="pole tekstowe 9">
            <a:extLst>
              <a:ext uri="{FF2B5EF4-FFF2-40B4-BE49-F238E27FC236}">
                <a16:creationId xmlns:a16="http://schemas.microsoft.com/office/drawing/2014/main" id="{326444D3-F2FB-38BF-43B8-309071C563A5}"/>
              </a:ext>
            </a:extLst>
          </p:cNvPr>
          <p:cNvSpPr txBox="1"/>
          <p:nvPr/>
        </p:nvSpPr>
        <p:spPr>
          <a:xfrm>
            <a:off x="8511542" y="1503592"/>
            <a:ext cx="1623060" cy="369332"/>
          </a:xfrm>
          <a:prstGeom prst="rect">
            <a:avLst/>
          </a:prstGeom>
          <a:noFill/>
        </p:spPr>
        <p:txBody>
          <a:bodyPr wrap="square" rtlCol="0">
            <a:spAutoFit/>
          </a:bodyPr>
          <a:lstStyle/>
          <a:p>
            <a:r>
              <a:rPr lang="en-AU" noProof="0" dirty="0"/>
              <a:t>Gap: 800nm</a:t>
            </a:r>
          </a:p>
        </p:txBody>
      </p:sp>
    </p:spTree>
    <p:extLst>
      <p:ext uri="{BB962C8B-B14F-4D97-AF65-F5344CB8AC3E}">
        <p14:creationId xmlns:p14="http://schemas.microsoft.com/office/powerpoint/2010/main" val="2868405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BADFE-AF78-7F8E-8160-6333499F610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5385C02-E7FC-5115-1812-2E8797599765}"/>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AU" sz="2500" noProof="0" dirty="0"/>
              <a:t>Learning outcome #2 – Directional coupler length and coupling coefficient</a:t>
            </a:r>
            <a:br>
              <a:rPr lang="en-AU" sz="2500" spc="-5" noProof="0" dirty="0">
                <a:latin typeface="+mj-lt"/>
                <a:cs typeface="Lucida Sans"/>
              </a:rPr>
            </a:br>
            <a:r>
              <a:rPr lang="en-AU" b="0" noProof="0" dirty="0"/>
              <a:t>Wavelength 1.5 µm – width 1.2 µm – gap 0.6 µm – thickness 300 nm</a:t>
            </a:r>
            <a:endParaRPr lang="en-AU" sz="2500" b="0" noProof="0" dirty="0">
              <a:latin typeface="+mj-lt"/>
              <a:cs typeface="Lucida Sans"/>
            </a:endParaRPr>
          </a:p>
        </p:txBody>
      </p:sp>
      <p:pic>
        <p:nvPicPr>
          <p:cNvPr id="83" name="Gráfico 82">
            <a:extLst>
              <a:ext uri="{FF2B5EF4-FFF2-40B4-BE49-F238E27FC236}">
                <a16:creationId xmlns:a16="http://schemas.microsoft.com/office/drawing/2014/main" id="{A983454F-8090-FE35-C0CC-CF7949C3E8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4743421-2303-737D-6263-3BF9115A3024}"/>
              </a:ext>
            </a:extLst>
          </p:cNvPr>
          <p:cNvSpPr>
            <a:spLocks noGrp="1"/>
          </p:cNvSpPr>
          <p:nvPr>
            <p:ph type="sldNum" sz="quarter" idx="7"/>
          </p:nvPr>
        </p:nvSpPr>
        <p:spPr/>
        <p:txBody>
          <a:bodyPr/>
          <a:lstStyle/>
          <a:p>
            <a:fld id="{B6F15528-21DE-4FAA-801E-634DDDAF4B2B}" type="slidenum">
              <a:rPr lang="en-AU" noProof="0" smtClean="0"/>
              <a:t>11</a:t>
            </a:fld>
            <a:endParaRPr lang="en-AU" noProof="0" dirty="0"/>
          </a:p>
        </p:txBody>
      </p:sp>
      <p:sp>
        <p:nvSpPr>
          <p:cNvPr id="3" name="Marcador de pie de página 2">
            <a:extLst>
              <a:ext uri="{FF2B5EF4-FFF2-40B4-BE49-F238E27FC236}">
                <a16:creationId xmlns:a16="http://schemas.microsoft.com/office/drawing/2014/main" id="{DF912CAF-82BE-1817-DCFA-174E936D7B0D}"/>
              </a:ext>
            </a:extLst>
          </p:cNvPr>
          <p:cNvSpPr>
            <a:spLocks noGrp="1"/>
          </p:cNvSpPr>
          <p:nvPr>
            <p:ph type="ftr" sz="quarter" idx="5"/>
          </p:nvPr>
        </p:nvSpPr>
        <p:spPr/>
        <p:txBody>
          <a:bodyPr/>
          <a:lstStyle/>
          <a:p>
            <a:pPr marL="12700">
              <a:spcBef>
                <a:spcPts val="15"/>
              </a:spcBef>
            </a:pPr>
            <a:r>
              <a:rPr lang="en-AU" spc="-5" noProof="0" dirty="0"/>
              <a:t>LAB 2.0. COUPLERS</a:t>
            </a:r>
          </a:p>
        </p:txBody>
      </p:sp>
      <p:pic>
        <p:nvPicPr>
          <p:cNvPr id="4" name="Obraz 3">
            <a:extLst>
              <a:ext uri="{FF2B5EF4-FFF2-40B4-BE49-F238E27FC236}">
                <a16:creationId xmlns:a16="http://schemas.microsoft.com/office/drawing/2014/main" id="{43A337DF-12AE-5327-9A0E-1A4A875AFFFB}"/>
              </a:ext>
            </a:extLst>
          </p:cNvPr>
          <p:cNvPicPr>
            <a:picLocks noChangeAspect="1"/>
          </p:cNvPicPr>
          <p:nvPr/>
        </p:nvPicPr>
        <p:blipFill>
          <a:blip r:embed="rId4"/>
          <a:stretch>
            <a:fillRect/>
          </a:stretch>
        </p:blipFill>
        <p:spPr>
          <a:xfrm>
            <a:off x="152400" y="1939500"/>
            <a:ext cx="5784081" cy="3490262"/>
          </a:xfrm>
          <a:prstGeom prst="rect">
            <a:avLst/>
          </a:prstGeom>
        </p:spPr>
      </p:pic>
      <p:pic>
        <p:nvPicPr>
          <p:cNvPr id="6" name="Obraz 5">
            <a:extLst>
              <a:ext uri="{FF2B5EF4-FFF2-40B4-BE49-F238E27FC236}">
                <a16:creationId xmlns:a16="http://schemas.microsoft.com/office/drawing/2014/main" id="{09FFC8AE-858D-25C4-C64D-EFBA5DD32267}"/>
              </a:ext>
            </a:extLst>
          </p:cNvPr>
          <p:cNvPicPr>
            <a:picLocks noChangeAspect="1"/>
          </p:cNvPicPr>
          <p:nvPr/>
        </p:nvPicPr>
        <p:blipFill>
          <a:blip r:embed="rId5"/>
          <a:stretch>
            <a:fillRect/>
          </a:stretch>
        </p:blipFill>
        <p:spPr>
          <a:xfrm>
            <a:off x="6225041" y="1939500"/>
            <a:ext cx="5768840" cy="3375953"/>
          </a:xfrm>
          <a:prstGeom prst="rect">
            <a:avLst/>
          </a:prstGeom>
        </p:spPr>
      </p:pic>
      <p:sp>
        <p:nvSpPr>
          <p:cNvPr id="7" name="pole tekstowe 6">
            <a:extLst>
              <a:ext uri="{FF2B5EF4-FFF2-40B4-BE49-F238E27FC236}">
                <a16:creationId xmlns:a16="http://schemas.microsoft.com/office/drawing/2014/main" id="{31221969-799E-6C8F-2C92-E713A446642A}"/>
              </a:ext>
            </a:extLst>
          </p:cNvPr>
          <p:cNvSpPr txBox="1"/>
          <p:nvPr/>
        </p:nvSpPr>
        <p:spPr>
          <a:xfrm>
            <a:off x="2362200" y="1570168"/>
            <a:ext cx="1623060" cy="369332"/>
          </a:xfrm>
          <a:prstGeom prst="rect">
            <a:avLst/>
          </a:prstGeom>
          <a:noFill/>
        </p:spPr>
        <p:txBody>
          <a:bodyPr wrap="square" rtlCol="0">
            <a:spAutoFit/>
          </a:bodyPr>
          <a:lstStyle/>
          <a:p>
            <a:r>
              <a:rPr lang="en-AU" noProof="0" dirty="0"/>
              <a:t>Gap: 1000nm</a:t>
            </a:r>
          </a:p>
        </p:txBody>
      </p:sp>
      <p:sp>
        <p:nvSpPr>
          <p:cNvPr id="8" name="pole tekstowe 7">
            <a:extLst>
              <a:ext uri="{FF2B5EF4-FFF2-40B4-BE49-F238E27FC236}">
                <a16:creationId xmlns:a16="http://schemas.microsoft.com/office/drawing/2014/main" id="{5EEFDD1D-8D46-848B-1E7D-38331CE95B03}"/>
              </a:ext>
            </a:extLst>
          </p:cNvPr>
          <p:cNvSpPr txBox="1"/>
          <p:nvPr/>
        </p:nvSpPr>
        <p:spPr>
          <a:xfrm>
            <a:off x="8763000" y="1542547"/>
            <a:ext cx="1623060" cy="369332"/>
          </a:xfrm>
          <a:prstGeom prst="rect">
            <a:avLst/>
          </a:prstGeom>
          <a:noFill/>
        </p:spPr>
        <p:txBody>
          <a:bodyPr wrap="square" rtlCol="0">
            <a:spAutoFit/>
          </a:bodyPr>
          <a:lstStyle/>
          <a:p>
            <a:r>
              <a:rPr lang="en-AU" noProof="0" dirty="0"/>
              <a:t>Gap: 1200nm</a:t>
            </a:r>
          </a:p>
        </p:txBody>
      </p:sp>
    </p:spTree>
    <p:extLst>
      <p:ext uri="{BB962C8B-B14F-4D97-AF65-F5344CB8AC3E}">
        <p14:creationId xmlns:p14="http://schemas.microsoft.com/office/powerpoint/2010/main" val="2683417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AU" sz="2500" noProof="0" dirty="0"/>
              <a:t>Learning outcome #4 – Parallel uncoupled waveguides – TE0 mode</a:t>
            </a:r>
            <a:br>
              <a:rPr lang="en-AU" sz="2500" spc="-5" noProof="0" dirty="0">
                <a:latin typeface="+mj-lt"/>
                <a:cs typeface="Lucida Sans"/>
              </a:rPr>
            </a:br>
            <a:r>
              <a:rPr lang="en-AU" b="0" noProof="0" dirty="0"/>
              <a:t>Wavelength 1.55 µm, width 1.0 µm, gap to be found for uncoupled </a:t>
            </a:r>
            <a:r>
              <a:rPr lang="en-AU" b="0" noProof="0" dirty="0" err="1"/>
              <a:t>wvgs</a:t>
            </a:r>
            <a:endParaRPr lang="en-AU" sz="2500" b="0" noProof="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n-AU" noProof="0" smtClean="0"/>
              <a:t>12</a:t>
            </a:fld>
            <a:endParaRPr lang="en-AU" noProof="0" dirty="0"/>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n-AU" spc="-5" noProof="0" dirty="0"/>
              <a:t>LAB 2.0. COUPLERS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n-AU" sz="1200" b="1" noProof="0" dirty="0">
                <a:latin typeface="Arial" panose="020B0604020202020204" pitchFamily="34" charset="0"/>
                <a:cs typeface="Arial" panose="020B0604020202020204" pitchFamily="34" charset="0"/>
              </a:rPr>
              <a:t>Hints:</a:t>
            </a:r>
          </a:p>
          <a:p>
            <a:pPr algn="just"/>
            <a:r>
              <a:rPr lang="en-AU" sz="1200" noProof="0" dirty="0">
                <a:latin typeface="Arial" panose="020B0604020202020204" pitchFamily="34" charset="0"/>
                <a:cs typeface="Arial" panose="020B0604020202020204" pitchFamily="34" charset="0"/>
              </a:rPr>
              <a:t>All waveguides running in parallel are coupled somehow. Controlling the degree of coupling is key for those waveguides you don’t want coupling over certain level (i.e. uncoupled waveguides). Uncoupled waveguide definition, we will use K&lt;0.01. Parallel waveguide length = 10 mm (typical length of a chip). Find minimum gap shallow / deep w=1.0µm </a:t>
            </a:r>
            <a:r>
              <a:rPr lang="en-AU" sz="1200" noProof="0" dirty="0" err="1">
                <a:latin typeface="Arial" panose="020B0604020202020204" pitchFamily="34" charset="0"/>
                <a:cs typeface="Arial" panose="020B0604020202020204" pitchFamily="34" charset="0"/>
              </a:rPr>
              <a:t>wvl</a:t>
            </a:r>
            <a:r>
              <a:rPr lang="en-AU" sz="1200" noProof="0" dirty="0">
                <a:latin typeface="Arial" panose="020B0604020202020204" pitchFamily="34" charset="0"/>
                <a:cs typeface="Arial" panose="020B0604020202020204" pitchFamily="34" charset="0"/>
              </a:rPr>
              <a:t> 1.55 µm.</a:t>
            </a:r>
          </a:p>
          <a:p>
            <a:pPr algn="just"/>
            <a:endParaRPr lang="en-AU" sz="1200" noProof="0" dirty="0">
              <a:latin typeface="Arial" panose="020B0604020202020204" pitchFamily="34" charset="0"/>
              <a:cs typeface="Arial" panose="020B0604020202020204" pitchFamily="34" charset="0"/>
            </a:endParaRPr>
          </a:p>
          <a:p>
            <a:pPr algn="just"/>
            <a:r>
              <a:rPr lang="en-US" sz="1200" noProof="0" dirty="0">
                <a:latin typeface="Arial" panose="020B0604020202020204" pitchFamily="34" charset="0"/>
                <a:cs typeface="Arial" panose="020B0604020202020204" pitchFamily="34" charset="0"/>
              </a:rPr>
              <a:t>Shallow: 4</a:t>
            </a:r>
            <a:r>
              <a:rPr lang="pl-PL" sz="1200" noProof="0" dirty="0">
                <a:latin typeface="Arial" panose="020B0604020202020204" pitchFamily="34" charset="0"/>
                <a:cs typeface="Arial" panose="020B0604020202020204" pitchFamily="34" charset="0"/>
              </a:rPr>
              <a:t>500</a:t>
            </a:r>
            <a:r>
              <a:rPr lang="en-US" sz="1200" noProof="0" dirty="0">
                <a:latin typeface="Arial" panose="020B0604020202020204" pitchFamily="34" charset="0"/>
                <a:cs typeface="Arial" panose="020B0604020202020204" pitchFamily="34" charset="0"/>
              </a:rPr>
              <a:t> nm</a:t>
            </a:r>
            <a:endParaRPr lang="pl-PL" sz="1200" noProof="0" dirty="0">
              <a:latin typeface="Arial" panose="020B0604020202020204" pitchFamily="34" charset="0"/>
              <a:cs typeface="Arial" panose="020B0604020202020204" pitchFamily="34" charset="0"/>
            </a:endParaRPr>
          </a:p>
          <a:p>
            <a:pPr algn="just"/>
            <a:r>
              <a:rPr lang="en-AU" sz="1200" noProof="0" dirty="0">
                <a:latin typeface="Arial" panose="020B0604020202020204" pitchFamily="34" charset="0"/>
                <a:cs typeface="Arial" panose="020B0604020202020204" pitchFamily="34" charset="0"/>
              </a:rPr>
              <a:t>Deep: 3</a:t>
            </a:r>
            <a:r>
              <a:rPr lang="pl-PL" sz="1200" noProof="0" dirty="0">
                <a:latin typeface="Arial" panose="020B0604020202020204" pitchFamily="34" charset="0"/>
                <a:cs typeface="Arial" panose="020B0604020202020204" pitchFamily="34" charset="0"/>
              </a:rPr>
              <a:t>2</a:t>
            </a:r>
            <a:r>
              <a:rPr lang="en-AU" sz="1200" noProof="0" dirty="0">
                <a:latin typeface="Arial" panose="020B0604020202020204" pitchFamily="34" charset="0"/>
                <a:cs typeface="Arial" panose="020B0604020202020204" pitchFamily="34" charset="0"/>
              </a:rPr>
              <a:t>00 nm</a:t>
            </a:r>
            <a:endParaRPr lang="pl-PL"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AU" b="1" noProof="0" dirty="0"/>
                  <a:t>deep</a:t>
                </a:r>
                <a:r>
                  <a:rPr lang="en-AU" noProof="0" dirty="0"/>
                  <a:t> waveguide</a:t>
                </a:r>
              </a:p>
              <a:p>
                <a:pPr algn="ctr"/>
                <a:endParaRPr lang="en-AU" noProof="0" dirty="0"/>
              </a:p>
              <a:p>
                <a:pPr algn="ctr"/>
                <a:r>
                  <a:rPr lang="en-AU" noProof="0" dirty="0"/>
                  <a:t>Paste </a:t>
                </a:r>
                <a14:m>
                  <m:oMath xmlns:m="http://schemas.openxmlformats.org/officeDocument/2006/math">
                    <m:r>
                      <a:rPr lang="en-AU" b="0" i="1" noProof="0" smtClean="0">
                        <a:latin typeface="Cambria Math" panose="02040503050406030204" pitchFamily="18" charset="0"/>
                      </a:rPr>
                      <m:t>𝐾</m:t>
                    </m:r>
                  </m:oMath>
                </a14:m>
                <a:r>
                  <a:rPr lang="en-AU" noProof="0" dirty="0"/>
                  <a:t> vs gap for 10 mm </a:t>
                </a:r>
                <a:r>
                  <a:rPr lang="en-AU" noProof="0" dirty="0" err="1"/>
                  <a:t>wvgs</a:t>
                </a:r>
                <a:r>
                  <a:rPr lang="en-AU" noProof="0" dirty="0"/>
                  <a:t> to be uncoupled</a:t>
                </a:r>
              </a:p>
              <a:p>
                <a:pPr algn="ctr"/>
                <a:endParaRPr lang="en-AU" noProof="0" dirty="0"/>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5"/>
                <a:stretch>
                  <a:fillRect t="-2479"/>
                </a:stretch>
              </a:blipFill>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477328"/>
              </a:xfrm>
              <a:prstGeom prst="rect">
                <a:avLst/>
              </a:prstGeom>
              <a:noFill/>
            </p:spPr>
            <p:txBody>
              <a:bodyPr wrap="square" rtlCol="0">
                <a:spAutoFit/>
              </a:bodyPr>
              <a:lstStyle/>
              <a:p>
                <a:pPr algn="ctr"/>
                <a:r>
                  <a:rPr lang="en-AU" b="1" noProof="0" dirty="0"/>
                  <a:t>shallow</a:t>
                </a:r>
                <a:r>
                  <a:rPr lang="en-AU" noProof="0" dirty="0"/>
                  <a:t> waveguide</a:t>
                </a:r>
              </a:p>
              <a:p>
                <a:pPr algn="ctr"/>
                <a:r>
                  <a:rPr lang="en-AU" noProof="0" dirty="0" err="1"/>
                  <a:t>slab_thickness</a:t>
                </a:r>
                <a:r>
                  <a:rPr lang="en-AU" noProof="0" dirty="0"/>
                  <a:t> = 150 nm</a:t>
                </a:r>
              </a:p>
              <a:p>
                <a:pPr algn="ctr"/>
                <a:endParaRPr lang="en-AU" noProof="0" dirty="0"/>
              </a:p>
              <a:p>
                <a:pPr algn="ctr"/>
                <a:r>
                  <a:rPr lang="en-AU" noProof="0" dirty="0"/>
                  <a:t>Paste </a:t>
                </a:r>
                <a14:m>
                  <m:oMath xmlns:m="http://schemas.openxmlformats.org/officeDocument/2006/math">
                    <m:r>
                      <a:rPr lang="en-AU" i="1" noProof="0" smtClean="0">
                        <a:latin typeface="Cambria Math" panose="02040503050406030204" pitchFamily="18" charset="0"/>
                      </a:rPr>
                      <m:t>𝐾</m:t>
                    </m:r>
                  </m:oMath>
                </a14:m>
                <a:r>
                  <a:rPr lang="en-AU" noProof="0" dirty="0"/>
                  <a:t> vs gap for 10 mm </a:t>
                </a:r>
                <a:r>
                  <a:rPr lang="en-AU" noProof="0" dirty="0" err="1"/>
                  <a:t>wvgs</a:t>
                </a:r>
                <a:r>
                  <a:rPr lang="en-AU" noProof="0" dirty="0"/>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477328"/>
              </a:xfrm>
              <a:prstGeom prst="rect">
                <a:avLst/>
              </a:prstGeom>
              <a:blipFill>
                <a:blip r:embed="rId6"/>
                <a:stretch>
                  <a:fillRect t="-2479" b="-5785"/>
                </a:stretch>
              </a:blipFill>
            </p:spPr>
            <p:txBody>
              <a:bodyPr/>
              <a:lstStyle/>
              <a:p>
                <a:r>
                  <a:rPr lang="pl-PL">
                    <a:noFill/>
                  </a:rPr>
                  <a:t> </a:t>
                </a:r>
              </a:p>
            </p:txBody>
          </p:sp>
        </mc:Fallback>
      </mc:AlternateContent>
      <p:pic>
        <p:nvPicPr>
          <p:cNvPr id="11" name="Obraz 10">
            <a:extLst>
              <a:ext uri="{FF2B5EF4-FFF2-40B4-BE49-F238E27FC236}">
                <a16:creationId xmlns:a16="http://schemas.microsoft.com/office/drawing/2014/main" id="{9DA64162-F7AD-C326-9748-A566A88ACF17}"/>
              </a:ext>
            </a:extLst>
          </p:cNvPr>
          <p:cNvPicPr>
            <a:picLocks noChangeAspect="1"/>
          </p:cNvPicPr>
          <p:nvPr/>
        </p:nvPicPr>
        <p:blipFill>
          <a:blip r:embed="rId7"/>
          <a:stretch>
            <a:fillRect/>
          </a:stretch>
        </p:blipFill>
        <p:spPr>
          <a:xfrm>
            <a:off x="816067" y="1378394"/>
            <a:ext cx="5073466" cy="3146834"/>
          </a:xfrm>
          <a:prstGeom prst="rect">
            <a:avLst/>
          </a:prstGeom>
        </p:spPr>
      </p:pic>
      <p:pic>
        <p:nvPicPr>
          <p:cNvPr id="13" name="Obraz 12">
            <a:extLst>
              <a:ext uri="{FF2B5EF4-FFF2-40B4-BE49-F238E27FC236}">
                <a16:creationId xmlns:a16="http://schemas.microsoft.com/office/drawing/2014/main" id="{3BB7BC50-ECAF-D3B1-C4D3-9358DAFE1B94}"/>
              </a:ext>
            </a:extLst>
          </p:cNvPr>
          <p:cNvPicPr>
            <a:picLocks noChangeAspect="1"/>
          </p:cNvPicPr>
          <p:nvPr/>
        </p:nvPicPr>
        <p:blipFill>
          <a:blip r:embed="rId8"/>
          <a:stretch>
            <a:fillRect/>
          </a:stretch>
        </p:blipFill>
        <p:spPr>
          <a:xfrm>
            <a:off x="6613118" y="1351611"/>
            <a:ext cx="4903169" cy="3041206"/>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292C21D-4D72-68D3-932F-260EE07BF551}"/>
              </a:ext>
            </a:extLst>
          </p:cNvPr>
          <p:cNvSpPr>
            <a:spLocks noGrp="1"/>
          </p:cNvSpPr>
          <p:nvPr>
            <p:ph type="title"/>
          </p:nvPr>
        </p:nvSpPr>
        <p:spPr/>
        <p:txBody>
          <a:bodyPr/>
          <a:lstStyle/>
          <a:p>
            <a:endParaRPr lang="pl-PL"/>
          </a:p>
        </p:txBody>
      </p:sp>
      <p:sp>
        <p:nvSpPr>
          <p:cNvPr id="3" name="Symbol zastępczy tekstu 2">
            <a:extLst>
              <a:ext uri="{FF2B5EF4-FFF2-40B4-BE49-F238E27FC236}">
                <a16:creationId xmlns:a16="http://schemas.microsoft.com/office/drawing/2014/main" id="{9482167E-9F0E-81F0-C445-0A88E56B0409}"/>
              </a:ext>
            </a:extLst>
          </p:cNvPr>
          <p:cNvSpPr>
            <a:spLocks noGrp="1"/>
          </p:cNvSpPr>
          <p:nvPr>
            <p:ph type="body" idx="1"/>
          </p:nvPr>
        </p:nvSpPr>
        <p:spPr/>
        <p:txBody>
          <a:bodyPr/>
          <a:lstStyle/>
          <a:p>
            <a:endParaRPr lang="pl-PL" dirty="0"/>
          </a:p>
        </p:txBody>
      </p:sp>
      <p:sp>
        <p:nvSpPr>
          <p:cNvPr id="4" name="Symbol zastępczy stopki 3">
            <a:extLst>
              <a:ext uri="{FF2B5EF4-FFF2-40B4-BE49-F238E27FC236}">
                <a16:creationId xmlns:a16="http://schemas.microsoft.com/office/drawing/2014/main" id="{FA3192A4-F655-8DB5-44C4-EAFA8C0717C7}"/>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Symbol zastępczy numeru slajdu 4">
            <a:extLst>
              <a:ext uri="{FF2B5EF4-FFF2-40B4-BE49-F238E27FC236}">
                <a16:creationId xmlns:a16="http://schemas.microsoft.com/office/drawing/2014/main" id="{7969EF26-F1F0-2996-A4B6-D39AEAC55EC8}"/>
              </a:ext>
            </a:extLst>
          </p:cNvPr>
          <p:cNvSpPr>
            <a:spLocks noGrp="1"/>
          </p:cNvSpPr>
          <p:nvPr>
            <p:ph type="sldNum" sz="quarter" idx="7"/>
          </p:nvPr>
        </p:nvSpPr>
        <p:spPr/>
        <p:txBody>
          <a:bodyPr/>
          <a:lstStyle/>
          <a:p>
            <a:fld id="{B6F15528-21DE-4FAA-801E-634DDDAF4B2B}" type="slidenum">
              <a:rPr lang="pl-PL" smtClean="0"/>
              <a:t>13</a:t>
            </a:fld>
            <a:endParaRPr lang="pl-PL"/>
          </a:p>
        </p:txBody>
      </p:sp>
      <p:pic>
        <p:nvPicPr>
          <p:cNvPr id="7" name="Obraz 6">
            <a:extLst>
              <a:ext uri="{FF2B5EF4-FFF2-40B4-BE49-F238E27FC236}">
                <a16:creationId xmlns:a16="http://schemas.microsoft.com/office/drawing/2014/main" id="{B5D8D2E4-648D-03D9-273E-4EA4BB6E8527}"/>
              </a:ext>
            </a:extLst>
          </p:cNvPr>
          <p:cNvPicPr>
            <a:picLocks noChangeAspect="1"/>
          </p:cNvPicPr>
          <p:nvPr/>
        </p:nvPicPr>
        <p:blipFill>
          <a:blip r:embed="rId2"/>
          <a:stretch>
            <a:fillRect/>
          </a:stretch>
        </p:blipFill>
        <p:spPr>
          <a:xfrm>
            <a:off x="228600" y="1878591"/>
            <a:ext cx="5816673" cy="3607810"/>
          </a:xfrm>
          <a:prstGeom prst="rect">
            <a:avLst/>
          </a:prstGeom>
        </p:spPr>
      </p:pic>
      <p:sp>
        <p:nvSpPr>
          <p:cNvPr id="8" name="pole tekstowe 7">
            <a:extLst>
              <a:ext uri="{FF2B5EF4-FFF2-40B4-BE49-F238E27FC236}">
                <a16:creationId xmlns:a16="http://schemas.microsoft.com/office/drawing/2014/main" id="{0E013632-9E2E-983F-3145-06110F95180F}"/>
              </a:ext>
            </a:extLst>
          </p:cNvPr>
          <p:cNvSpPr txBox="1"/>
          <p:nvPr/>
        </p:nvSpPr>
        <p:spPr>
          <a:xfrm>
            <a:off x="4495800" y="1814680"/>
            <a:ext cx="1371600" cy="369332"/>
          </a:xfrm>
          <a:prstGeom prst="rect">
            <a:avLst/>
          </a:prstGeom>
          <a:noFill/>
        </p:spPr>
        <p:txBody>
          <a:bodyPr wrap="square" rtlCol="0">
            <a:spAutoFit/>
          </a:bodyPr>
          <a:lstStyle/>
          <a:p>
            <a:r>
              <a:rPr lang="pl-PL" dirty="0"/>
              <a:t>for </a:t>
            </a:r>
            <a:r>
              <a:rPr lang="pl-PL" dirty="0" err="1"/>
              <a:t>deep</a:t>
            </a:r>
            <a:endParaRPr lang="pl-PL" dirty="0"/>
          </a:p>
        </p:txBody>
      </p:sp>
      <p:pic>
        <p:nvPicPr>
          <p:cNvPr id="10" name="Obraz 9">
            <a:extLst>
              <a:ext uri="{FF2B5EF4-FFF2-40B4-BE49-F238E27FC236}">
                <a16:creationId xmlns:a16="http://schemas.microsoft.com/office/drawing/2014/main" id="{2E4C2346-1E2C-6B65-23FA-3D8D8FE149DC}"/>
              </a:ext>
            </a:extLst>
          </p:cNvPr>
          <p:cNvPicPr>
            <a:picLocks noChangeAspect="1"/>
          </p:cNvPicPr>
          <p:nvPr/>
        </p:nvPicPr>
        <p:blipFill>
          <a:blip r:embed="rId3"/>
          <a:stretch>
            <a:fillRect/>
          </a:stretch>
        </p:blipFill>
        <p:spPr>
          <a:xfrm>
            <a:off x="6076375" y="2037571"/>
            <a:ext cx="5522749" cy="3425503"/>
          </a:xfrm>
          <a:prstGeom prst="rect">
            <a:avLst/>
          </a:prstGeom>
        </p:spPr>
      </p:pic>
    </p:spTree>
    <p:extLst>
      <p:ext uri="{BB962C8B-B14F-4D97-AF65-F5344CB8AC3E}">
        <p14:creationId xmlns:p14="http://schemas.microsoft.com/office/powerpoint/2010/main" val="1967080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n-AU" spc="-5" noProof="0" dirty="0"/>
              <a:t>LAB 2.0. COUPLERS</a:t>
            </a:r>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n-AU" noProof="0" smtClean="0"/>
              <a:t>14</a:t>
            </a:fld>
            <a:endParaRPr lang="en-AU" noProof="0" dirty="0"/>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AU" sz="2800" b="1" noProof="0"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AU" sz="2500" noProof="0" dirty="0"/>
              <a:t>Learning outcome #5 – Multimode Interference (MMI) Coupler cross-section</a:t>
            </a:r>
            <a:endParaRPr lang="en-AU" sz="2500" b="0" noProof="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n-AU" noProof="0" smtClean="0"/>
              <a:t>15</a:t>
            </a:fld>
            <a:endParaRPr lang="en-AU" noProof="0" dirty="0"/>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n-AU" spc="-5" noProof="0" dirty="0"/>
              <a:t>LAB 2.0. COUPLERS</a:t>
            </a:r>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AU" sz="2000" b="1" noProof="0" dirty="0"/>
                  <a:t>INSTRUCTOR:</a:t>
                </a:r>
              </a:p>
              <a:p>
                <a:pPr marL="342900" indent="-342900" algn="just">
                  <a:buFont typeface="Arial" panose="020B0604020202020204" pitchFamily="34" charset="0"/>
                  <a:buChar char="•"/>
                </a:pPr>
                <a:r>
                  <a:rPr lang="en-AU" sz="2000" noProof="0" dirty="0"/>
                  <a:t>Present Python and </a:t>
                </a:r>
                <a:r>
                  <a:rPr lang="en-AU" sz="2000" noProof="0" dirty="0" err="1"/>
                  <a:t>GDSFactory</a:t>
                </a:r>
                <a:r>
                  <a:rPr lang="en-AU" sz="2000" noProof="0" dirty="0"/>
                  <a:t> implementation of DC cross-section</a:t>
                </a:r>
              </a:p>
              <a:p>
                <a:pPr marL="342900" indent="-342900" algn="just">
                  <a:buFont typeface="Arial" panose="020B0604020202020204" pitchFamily="34" charset="0"/>
                  <a:buChar char="•"/>
                </a:pPr>
                <a:r>
                  <a:rPr lang="en-AU" sz="2000" noProof="0" dirty="0"/>
                  <a:t>Describe how to obtain the length </a:t>
                </a:r>
                <a14:m>
                  <m:oMath xmlns:m="http://schemas.openxmlformats.org/officeDocument/2006/math">
                    <m:sSub>
                      <m:sSubPr>
                        <m:ctrlPr>
                          <a:rPr lang="en-AU" sz="2000" b="0" i="1" noProof="0" smtClean="0">
                            <a:latin typeface="Cambria Math" panose="02040503050406030204" pitchFamily="18" charset="0"/>
                          </a:rPr>
                        </m:ctrlPr>
                      </m:sSubPr>
                      <m:e>
                        <m:r>
                          <a:rPr lang="en-AU" sz="2000" b="0" i="1" noProof="0" smtClean="0">
                            <a:latin typeface="Cambria Math" panose="02040503050406030204" pitchFamily="18" charset="0"/>
                          </a:rPr>
                          <m:t>𝐿</m:t>
                        </m:r>
                      </m:e>
                      <m:sub>
                        <m:r>
                          <a:rPr lang="en-AU" sz="2000" b="0" i="1" noProof="0" smtClean="0">
                            <a:latin typeface="Cambria Math" panose="02040503050406030204" pitchFamily="18" charset="0"/>
                          </a:rPr>
                          <m:t>𝜋</m:t>
                        </m:r>
                      </m:sub>
                    </m:sSub>
                  </m:oMath>
                </a14:m>
                <a:endParaRPr lang="en-AU" sz="2000" noProof="0" dirty="0"/>
              </a:p>
              <a:p>
                <a:pPr marL="342900" indent="-342900" algn="just">
                  <a:buFont typeface="Arial" panose="020B0604020202020204" pitchFamily="34" charset="0"/>
                  <a:buChar char="•"/>
                </a:pPr>
                <a:r>
                  <a:rPr lang="en-AU" sz="2000" noProof="0" dirty="0"/>
                  <a:t>Describe the outputs.</a:t>
                </a:r>
              </a:p>
              <a:p>
                <a:pPr marL="0" indent="0" algn="just">
                  <a:buNone/>
                </a:pPr>
                <a:r>
                  <a:rPr lang="en-AU" sz="2000" b="1" noProof="0" dirty="0"/>
                  <a:t>ALL EXAMPLE #2: </a:t>
                </a:r>
                <a:r>
                  <a:rPr lang="en-AU" sz="2000" noProof="0" dirty="0"/>
                  <a:t>waveguide width 12 µm, gap between waveguides 0.6 µm, deep </a:t>
                </a:r>
                <a:r>
                  <a:rPr lang="en-AU" sz="2000" noProof="0" dirty="0" err="1"/>
                  <a:t>wvg</a:t>
                </a:r>
                <a:r>
                  <a:rPr lang="en-AU" sz="2000" noProof="0" dirty="0"/>
                  <a:t>, wavelength start and end same 1.55 µm </a:t>
                </a:r>
                <a:r>
                  <a:rPr lang="en-AU" sz="2000" noProof="0" dirty="0">
                    <a:sym typeface="Wingdings" pitchFamily="2" charset="2"/>
                  </a:rPr>
                  <a:t> all ”Run”</a:t>
                </a:r>
                <a:endParaRPr lang="en-AU" sz="2000" noProof="0" dirty="0"/>
              </a:p>
              <a:p>
                <a:pPr marL="0" indent="0" algn="just">
                  <a:buNone/>
                </a:pPr>
                <a:r>
                  <a:rPr lang="en-AU" sz="2000" b="1" noProof="0" dirty="0"/>
                  <a:t>ALL: </a:t>
                </a:r>
                <a:r>
                  <a:rPr lang="en-AU" sz="2000" noProof="0" dirty="0"/>
                  <a:t>Follow</a:t>
                </a:r>
                <a:r>
                  <a:rPr lang="en-AU" sz="2000" b="1" noProof="0" dirty="0"/>
                  <a:t> </a:t>
                </a:r>
                <a:r>
                  <a:rPr lang="en-AU" sz="2000" noProof="0" dirty="0"/>
                  <a:t>instructor, that will show how to 1) plot mode, 2) explore the results (</a:t>
                </a:r>
                <a:r>
                  <a:rPr lang="en-AU" sz="2000" noProof="0" dirty="0" err="1"/>
                  <a:t>neff</a:t>
                </a:r>
                <a:r>
                  <a:rPr lang="en-AU" sz="2000" noProof="0" dirty="0"/>
                  <a:t> …)</a:t>
                </a:r>
              </a:p>
              <a:p>
                <a:pPr algn="just"/>
                <a:endParaRPr lang="en-AU" sz="2000" b="1" i="1" u="sng" noProof="0" dirty="0"/>
              </a:p>
              <a:p>
                <a:pPr algn="just"/>
                <a:endParaRPr lang="en-AU" sz="2000" kern="0" noProof="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pl-PL">
                    <a:noFill/>
                  </a:rPr>
                  <a:t> </a:t>
                </a:r>
              </a:p>
            </p:txBody>
          </p:sp>
        </mc:Fallback>
      </mc:AlternateContent>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AU" sz="1200" noProof="0" dirty="0">
                <a:latin typeface="Arial" panose="020B0604020202020204" pitchFamily="34" charset="0"/>
                <a:cs typeface="Arial" panose="020B0604020202020204" pitchFamily="34" charset="0"/>
              </a:rPr>
              <a:t>Document all your results (</a:t>
            </a:r>
            <a:r>
              <a:rPr lang="en-AU" sz="1200" noProof="0" dirty="0" err="1">
                <a:latin typeface="Arial" panose="020B0604020202020204" pitchFamily="34" charset="0"/>
                <a:cs typeface="Arial" panose="020B0604020202020204" pitchFamily="34" charset="0"/>
              </a:rPr>
              <a:t>neff</a:t>
            </a:r>
            <a:r>
              <a:rPr lang="en-AU" sz="1200" noProof="0" dirty="0">
                <a:latin typeface="Arial" panose="020B0604020202020204" pitchFamily="34" charset="0"/>
                <a:cs typeface="Arial" panose="020B0604020202020204" pitchFamily="34" charset="0"/>
              </a:rPr>
              <a:t>, plot fields of different modes, comparison between different polarizations…)</a:t>
            </a: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451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9F7B6A6-0A6A-4364-3477-FBB34B379A88}"/>
              </a:ext>
            </a:extLst>
          </p:cNvPr>
          <p:cNvSpPr>
            <a:spLocks noGrp="1"/>
          </p:cNvSpPr>
          <p:nvPr>
            <p:ph type="title"/>
          </p:nvPr>
        </p:nvSpPr>
        <p:spPr/>
        <p:txBody>
          <a:bodyPr/>
          <a:lstStyle/>
          <a:p>
            <a:endParaRPr lang="pl-PL"/>
          </a:p>
        </p:txBody>
      </p:sp>
      <p:sp>
        <p:nvSpPr>
          <p:cNvPr id="3" name="Symbol zastępczy tekstu 2">
            <a:extLst>
              <a:ext uri="{FF2B5EF4-FFF2-40B4-BE49-F238E27FC236}">
                <a16:creationId xmlns:a16="http://schemas.microsoft.com/office/drawing/2014/main" id="{29E0F5D3-0CF7-E8CA-2E83-0475CC5B4B45}"/>
              </a:ext>
            </a:extLst>
          </p:cNvPr>
          <p:cNvSpPr>
            <a:spLocks noGrp="1"/>
          </p:cNvSpPr>
          <p:nvPr>
            <p:ph type="body" idx="1"/>
          </p:nvPr>
        </p:nvSpPr>
        <p:spPr/>
        <p:txBody>
          <a:bodyPr/>
          <a:lstStyle/>
          <a:p>
            <a:endParaRPr lang="pl-PL" dirty="0"/>
          </a:p>
        </p:txBody>
      </p:sp>
      <p:sp>
        <p:nvSpPr>
          <p:cNvPr id="4" name="Symbol zastępczy stopki 3">
            <a:extLst>
              <a:ext uri="{FF2B5EF4-FFF2-40B4-BE49-F238E27FC236}">
                <a16:creationId xmlns:a16="http://schemas.microsoft.com/office/drawing/2014/main" id="{28D99586-480B-ED75-AED0-FE08D468FA1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Symbol zastępczy numeru slajdu 4">
            <a:extLst>
              <a:ext uri="{FF2B5EF4-FFF2-40B4-BE49-F238E27FC236}">
                <a16:creationId xmlns:a16="http://schemas.microsoft.com/office/drawing/2014/main" id="{622C22EE-A08D-C6B3-11E4-2DD09FE80458}"/>
              </a:ext>
            </a:extLst>
          </p:cNvPr>
          <p:cNvSpPr>
            <a:spLocks noGrp="1"/>
          </p:cNvSpPr>
          <p:nvPr>
            <p:ph type="sldNum" sz="quarter" idx="7"/>
          </p:nvPr>
        </p:nvSpPr>
        <p:spPr/>
        <p:txBody>
          <a:bodyPr/>
          <a:lstStyle/>
          <a:p>
            <a:fld id="{B6F15528-21DE-4FAA-801E-634DDDAF4B2B}" type="slidenum">
              <a:rPr lang="pl-PL" smtClean="0"/>
              <a:t>16</a:t>
            </a:fld>
            <a:endParaRPr lang="pl-PL"/>
          </a:p>
        </p:txBody>
      </p:sp>
      <p:pic>
        <p:nvPicPr>
          <p:cNvPr id="7" name="Obraz 6">
            <a:extLst>
              <a:ext uri="{FF2B5EF4-FFF2-40B4-BE49-F238E27FC236}">
                <a16:creationId xmlns:a16="http://schemas.microsoft.com/office/drawing/2014/main" id="{F13E4B35-1847-D722-1BC5-14255326CC17}"/>
              </a:ext>
            </a:extLst>
          </p:cNvPr>
          <p:cNvPicPr>
            <a:picLocks noChangeAspect="1"/>
          </p:cNvPicPr>
          <p:nvPr/>
        </p:nvPicPr>
        <p:blipFill>
          <a:blip r:embed="rId2"/>
          <a:stretch>
            <a:fillRect/>
          </a:stretch>
        </p:blipFill>
        <p:spPr>
          <a:xfrm>
            <a:off x="1303019" y="609600"/>
            <a:ext cx="9585961" cy="5638800"/>
          </a:xfrm>
          <a:prstGeom prst="rect">
            <a:avLst/>
          </a:prstGeom>
        </p:spPr>
      </p:pic>
    </p:spTree>
    <p:extLst>
      <p:ext uri="{BB962C8B-B14F-4D97-AF65-F5344CB8AC3E}">
        <p14:creationId xmlns:p14="http://schemas.microsoft.com/office/powerpoint/2010/main" val="962865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0D465-72A2-F481-4DB6-90E9ADD2D4FD}"/>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A3B0C9CC-81A7-AC42-4794-CC5DFFE0EF11}"/>
              </a:ext>
            </a:extLst>
          </p:cNvPr>
          <p:cNvSpPr>
            <a:spLocks noGrp="1"/>
          </p:cNvSpPr>
          <p:nvPr>
            <p:ph type="title"/>
          </p:nvPr>
        </p:nvSpPr>
        <p:spPr/>
        <p:txBody>
          <a:bodyPr/>
          <a:lstStyle/>
          <a:p>
            <a:endParaRPr lang="pl-PL"/>
          </a:p>
        </p:txBody>
      </p:sp>
      <p:sp>
        <p:nvSpPr>
          <p:cNvPr id="3" name="Symbol zastępczy tekstu 2">
            <a:extLst>
              <a:ext uri="{FF2B5EF4-FFF2-40B4-BE49-F238E27FC236}">
                <a16:creationId xmlns:a16="http://schemas.microsoft.com/office/drawing/2014/main" id="{289FCC02-E346-711F-7900-969712DDA78C}"/>
              </a:ext>
            </a:extLst>
          </p:cNvPr>
          <p:cNvSpPr>
            <a:spLocks noGrp="1"/>
          </p:cNvSpPr>
          <p:nvPr>
            <p:ph type="body" idx="1"/>
          </p:nvPr>
        </p:nvSpPr>
        <p:spPr/>
        <p:txBody>
          <a:bodyPr/>
          <a:lstStyle/>
          <a:p>
            <a:endParaRPr lang="pl-PL" dirty="0"/>
          </a:p>
        </p:txBody>
      </p:sp>
      <p:sp>
        <p:nvSpPr>
          <p:cNvPr id="4" name="Symbol zastępczy stopki 3">
            <a:extLst>
              <a:ext uri="{FF2B5EF4-FFF2-40B4-BE49-F238E27FC236}">
                <a16:creationId xmlns:a16="http://schemas.microsoft.com/office/drawing/2014/main" id="{6B6BBA14-3471-E05F-788B-72C1866864DF}"/>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Symbol zastępczy numeru slajdu 4">
            <a:extLst>
              <a:ext uri="{FF2B5EF4-FFF2-40B4-BE49-F238E27FC236}">
                <a16:creationId xmlns:a16="http://schemas.microsoft.com/office/drawing/2014/main" id="{D8910546-5F70-2147-B3D4-85A3A49F41CF}"/>
              </a:ext>
            </a:extLst>
          </p:cNvPr>
          <p:cNvSpPr>
            <a:spLocks noGrp="1"/>
          </p:cNvSpPr>
          <p:nvPr>
            <p:ph type="sldNum" sz="quarter" idx="7"/>
          </p:nvPr>
        </p:nvSpPr>
        <p:spPr/>
        <p:txBody>
          <a:bodyPr/>
          <a:lstStyle/>
          <a:p>
            <a:fld id="{B6F15528-21DE-4FAA-801E-634DDDAF4B2B}" type="slidenum">
              <a:rPr lang="pl-PL" smtClean="0"/>
              <a:t>17</a:t>
            </a:fld>
            <a:endParaRPr lang="pl-PL"/>
          </a:p>
        </p:txBody>
      </p:sp>
      <p:pic>
        <p:nvPicPr>
          <p:cNvPr id="7" name="Obraz 6">
            <a:extLst>
              <a:ext uri="{FF2B5EF4-FFF2-40B4-BE49-F238E27FC236}">
                <a16:creationId xmlns:a16="http://schemas.microsoft.com/office/drawing/2014/main" id="{667A4F69-276B-533A-54D2-8BB1D02C87FD}"/>
              </a:ext>
            </a:extLst>
          </p:cNvPr>
          <p:cNvPicPr>
            <a:picLocks noChangeAspect="1"/>
          </p:cNvPicPr>
          <p:nvPr/>
        </p:nvPicPr>
        <p:blipFill>
          <a:blip r:embed="rId2"/>
          <a:stretch>
            <a:fillRect/>
          </a:stretch>
        </p:blipFill>
        <p:spPr>
          <a:xfrm>
            <a:off x="2210376" y="171355"/>
            <a:ext cx="4862205" cy="3470454"/>
          </a:xfrm>
          <a:prstGeom prst="rect">
            <a:avLst/>
          </a:prstGeom>
        </p:spPr>
      </p:pic>
      <p:pic>
        <p:nvPicPr>
          <p:cNvPr id="9" name="Obraz 8">
            <a:extLst>
              <a:ext uri="{FF2B5EF4-FFF2-40B4-BE49-F238E27FC236}">
                <a16:creationId xmlns:a16="http://schemas.microsoft.com/office/drawing/2014/main" id="{733E75D9-B729-A566-ACA3-30676040DE5D}"/>
              </a:ext>
            </a:extLst>
          </p:cNvPr>
          <p:cNvPicPr>
            <a:picLocks noChangeAspect="1"/>
          </p:cNvPicPr>
          <p:nvPr/>
        </p:nvPicPr>
        <p:blipFill>
          <a:blip r:embed="rId3"/>
          <a:stretch>
            <a:fillRect/>
          </a:stretch>
        </p:blipFill>
        <p:spPr>
          <a:xfrm>
            <a:off x="7150031" y="58266"/>
            <a:ext cx="4914454" cy="3438350"/>
          </a:xfrm>
          <a:prstGeom prst="rect">
            <a:avLst/>
          </a:prstGeom>
        </p:spPr>
      </p:pic>
      <p:pic>
        <p:nvPicPr>
          <p:cNvPr id="11" name="Obraz 10">
            <a:extLst>
              <a:ext uri="{FF2B5EF4-FFF2-40B4-BE49-F238E27FC236}">
                <a16:creationId xmlns:a16="http://schemas.microsoft.com/office/drawing/2014/main" id="{C792DF03-B08D-3B02-671D-7C9983DC3F94}"/>
              </a:ext>
            </a:extLst>
          </p:cNvPr>
          <p:cNvPicPr>
            <a:picLocks noChangeAspect="1"/>
          </p:cNvPicPr>
          <p:nvPr/>
        </p:nvPicPr>
        <p:blipFill>
          <a:blip r:embed="rId4"/>
          <a:stretch>
            <a:fillRect/>
          </a:stretch>
        </p:blipFill>
        <p:spPr>
          <a:xfrm>
            <a:off x="559448" y="2872207"/>
            <a:ext cx="4970756" cy="3477741"/>
          </a:xfrm>
          <a:prstGeom prst="rect">
            <a:avLst/>
          </a:prstGeom>
        </p:spPr>
      </p:pic>
    </p:spTree>
    <p:extLst>
      <p:ext uri="{BB962C8B-B14F-4D97-AF65-F5344CB8AC3E}">
        <p14:creationId xmlns:p14="http://schemas.microsoft.com/office/powerpoint/2010/main" val="3833851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AU" sz="2500" noProof="0" dirty="0"/>
              <a:t>Learning outcome #6 – 6.1 2x2 Multimode Interference Coupler </a:t>
            </a:r>
            <a:br>
              <a:rPr lang="en-AU" sz="2500" noProof="0" dirty="0"/>
            </a:br>
            <a:r>
              <a:rPr lang="en-AU" b="0" noProof="0" dirty="0"/>
              <a:t>Wavelength 1.55 µm, </a:t>
            </a:r>
            <a:r>
              <a:rPr lang="en-AU" b="0" noProof="0" dirty="0" err="1"/>
              <a:t>wMMI</a:t>
            </a:r>
            <a:r>
              <a:rPr lang="en-AU" b="0" noProof="0" dirty="0"/>
              <a:t> = 6.6 µm</a:t>
            </a:r>
            <a:endParaRPr lang="en-AU" sz="2500" b="0" noProof="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n-AU" noProof="0" smtClean="0"/>
              <a:t>18</a:t>
            </a:fld>
            <a:endParaRPr lang="en-AU" noProof="0" dirty="0"/>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n-AU" spc="-5" noProof="0" dirty="0"/>
              <a:t>LAB 2.0. COUPLERS</a:t>
            </a:r>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AU" sz="1200" noProof="0" dirty="0">
                <a:latin typeface="Arial" panose="020B0604020202020204" pitchFamily="34" charset="0"/>
                <a:cs typeface="Arial" panose="020B0604020202020204" pitchFamily="34" charset="0"/>
              </a:rPr>
              <a:t>Comment results (Coupling relationship, </a:t>
            </a:r>
            <a:r>
              <a:rPr lang="en-AU" sz="1200" noProof="0" dirty="0" err="1">
                <a:latin typeface="Arial" panose="020B0604020202020204" pitchFamily="34" charset="0"/>
                <a:cs typeface="Arial" panose="020B0604020202020204" pitchFamily="34" charset="0"/>
              </a:rPr>
              <a:t>Lpi</a:t>
            </a:r>
            <a:r>
              <a:rPr lang="en-AU" sz="1200" noProof="0" dirty="0">
                <a:latin typeface="Arial" panose="020B0604020202020204" pitchFamily="34" charset="0"/>
                <a:cs typeface="Arial" panose="020B0604020202020204" pitchFamily="34" charset="0"/>
              </a:rPr>
              <a:t>,  losses, comparison with Directional Coupler… )</a:t>
            </a: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8" name="CuadroTexto 7">
            <a:extLst>
              <a:ext uri="{FF2B5EF4-FFF2-40B4-BE49-F238E27FC236}">
                <a16:creationId xmlns:a16="http://schemas.microsoft.com/office/drawing/2014/main" id="{0DA14DBA-172E-DA2C-0573-6A00BF18F4A5}"/>
              </a:ext>
            </a:extLst>
          </p:cNvPr>
          <p:cNvSpPr txBox="1"/>
          <p:nvPr/>
        </p:nvSpPr>
        <p:spPr>
          <a:xfrm>
            <a:off x="2286000" y="2630415"/>
            <a:ext cx="7718580" cy="923330"/>
          </a:xfrm>
          <a:prstGeom prst="rect">
            <a:avLst/>
          </a:prstGeom>
          <a:noFill/>
        </p:spPr>
        <p:txBody>
          <a:bodyPr wrap="square" rtlCol="0">
            <a:spAutoFit/>
          </a:bodyPr>
          <a:lstStyle/>
          <a:p>
            <a:pPr algn="ctr"/>
            <a:r>
              <a:rPr lang="en-AU" b="1" noProof="0" dirty="0"/>
              <a:t>deep</a:t>
            </a:r>
            <a:r>
              <a:rPr lang="en-AU" noProof="0" dirty="0"/>
              <a:t> waveguide</a:t>
            </a:r>
          </a:p>
          <a:p>
            <a:pPr algn="ctr"/>
            <a:endParaRPr lang="en-AU" noProof="0" dirty="0"/>
          </a:p>
          <a:p>
            <a:pPr algn="ctr"/>
            <a:r>
              <a:rPr lang="en-AU" noProof="0" dirty="0"/>
              <a:t>Paste propagation plots and console results</a:t>
            </a:r>
          </a:p>
        </p:txBody>
      </p:sp>
      <p:pic>
        <p:nvPicPr>
          <p:cNvPr id="5" name="Obraz 4">
            <a:extLst>
              <a:ext uri="{FF2B5EF4-FFF2-40B4-BE49-F238E27FC236}">
                <a16:creationId xmlns:a16="http://schemas.microsoft.com/office/drawing/2014/main" id="{22D09905-5513-2D12-C8B2-9AF41CF93816}"/>
              </a:ext>
            </a:extLst>
          </p:cNvPr>
          <p:cNvPicPr>
            <a:picLocks noChangeAspect="1"/>
          </p:cNvPicPr>
          <p:nvPr/>
        </p:nvPicPr>
        <p:blipFill>
          <a:blip r:embed="rId4"/>
          <a:stretch>
            <a:fillRect/>
          </a:stretch>
        </p:blipFill>
        <p:spPr>
          <a:xfrm>
            <a:off x="914400" y="1781889"/>
            <a:ext cx="6305509" cy="2600325"/>
          </a:xfrm>
          <a:prstGeom prst="rect">
            <a:avLst/>
          </a:prstGeom>
        </p:spPr>
      </p:pic>
      <p:pic>
        <p:nvPicPr>
          <p:cNvPr id="9" name="Obraz 8">
            <a:extLst>
              <a:ext uri="{FF2B5EF4-FFF2-40B4-BE49-F238E27FC236}">
                <a16:creationId xmlns:a16="http://schemas.microsoft.com/office/drawing/2014/main" id="{9568B993-2C28-5152-3CAE-A34E99615329}"/>
              </a:ext>
            </a:extLst>
          </p:cNvPr>
          <p:cNvPicPr>
            <a:picLocks noChangeAspect="1"/>
          </p:cNvPicPr>
          <p:nvPr/>
        </p:nvPicPr>
        <p:blipFill>
          <a:blip r:embed="rId5"/>
          <a:stretch>
            <a:fillRect/>
          </a:stretch>
        </p:blipFill>
        <p:spPr>
          <a:xfrm>
            <a:off x="7623685" y="1593618"/>
            <a:ext cx="3653915" cy="2853717"/>
          </a:xfrm>
          <a:prstGeom prst="rect">
            <a:avLst/>
          </a:prstGeom>
        </p:spPr>
      </p:pic>
    </p:spTree>
    <p:extLst>
      <p:ext uri="{BB962C8B-B14F-4D97-AF65-F5344CB8AC3E}">
        <p14:creationId xmlns:p14="http://schemas.microsoft.com/office/powerpoint/2010/main" val="2815679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AU" sz="2500" noProof="0" dirty="0"/>
              <a:t>Learning outcome #6.2 – 2x2 Multimode Interference Coupler - Optimization</a:t>
            </a:r>
            <a:br>
              <a:rPr lang="en-AU" sz="2500" noProof="0" dirty="0"/>
            </a:br>
            <a:r>
              <a:rPr lang="en-AU" b="0" noProof="0" dirty="0"/>
              <a:t>Wavelength 1.55 µm, </a:t>
            </a:r>
            <a:r>
              <a:rPr lang="en-AU" b="0" noProof="0" dirty="0" err="1"/>
              <a:t>wMMI</a:t>
            </a:r>
            <a:r>
              <a:rPr lang="en-AU" b="0" noProof="0" dirty="0"/>
              <a:t> = 6.6 µm</a:t>
            </a:r>
            <a:endParaRPr lang="en-AU" sz="2500" b="0" noProof="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n-AU" noProof="0" smtClean="0"/>
              <a:t>19</a:t>
            </a:fld>
            <a:endParaRPr lang="en-AU" noProof="0" dirty="0"/>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n-AU" spc="-5" noProof="0" dirty="0"/>
              <a:t>LAB 2.0. COUPLERS</a:t>
            </a:r>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n-AU" sz="1200" noProof="0" dirty="0">
                <a:latin typeface="Arial" panose="020B0604020202020204" pitchFamily="34" charset="0"/>
                <a:cs typeface="Arial" panose="020B0604020202020204" pitchFamily="34" charset="0"/>
              </a:rPr>
              <a:t>Comment results</a:t>
            </a:r>
          </a:p>
          <a:p>
            <a:pPr algn="just"/>
            <a:endParaRPr lang="en-AU" sz="1200" noProof="0" dirty="0">
              <a:latin typeface="Arial" panose="020B0604020202020204" pitchFamily="34" charset="0"/>
              <a:cs typeface="Arial" panose="020B0604020202020204" pitchFamily="34" charset="0"/>
            </a:endParaRPr>
          </a:p>
          <a:p>
            <a:pPr algn="just"/>
            <a:r>
              <a:rPr lang="en-US" sz="1200" noProof="0" dirty="0">
                <a:latin typeface="Arial" panose="020B0604020202020204" pitchFamily="34" charset="0"/>
                <a:cs typeface="Arial" panose="020B0604020202020204" pitchFamily="34" charset="0"/>
              </a:rPr>
              <a:t>The optimization was successful. The adjusted parameters resulted in an almost perfect 50/50 power splitting ratio with a low excess loss of 0.35 </a:t>
            </a:r>
            <a:r>
              <a:rPr lang="en-US" sz="1200" noProof="0" dirty="0" err="1">
                <a:latin typeface="Arial" panose="020B0604020202020204" pitchFamily="34" charset="0"/>
                <a:cs typeface="Arial" panose="020B0604020202020204" pitchFamily="34" charset="0"/>
              </a:rPr>
              <a:t>dB.</a:t>
            </a:r>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8" name="CuadroTexto 7">
            <a:extLst>
              <a:ext uri="{FF2B5EF4-FFF2-40B4-BE49-F238E27FC236}">
                <a16:creationId xmlns:a16="http://schemas.microsoft.com/office/drawing/2014/main" id="{643565A9-7DB6-D6EE-152F-2852C8BA7986}"/>
              </a:ext>
            </a:extLst>
          </p:cNvPr>
          <p:cNvSpPr txBox="1"/>
          <p:nvPr/>
        </p:nvSpPr>
        <p:spPr>
          <a:xfrm>
            <a:off x="640245" y="1942909"/>
            <a:ext cx="11199972" cy="2708434"/>
          </a:xfrm>
          <a:prstGeom prst="rect">
            <a:avLst/>
          </a:prstGeom>
          <a:noFill/>
        </p:spPr>
        <p:txBody>
          <a:bodyPr wrap="square" rtlCol="0">
            <a:spAutoFit/>
          </a:bodyPr>
          <a:lstStyle/>
          <a:p>
            <a:pPr algn="ctr"/>
            <a:r>
              <a:rPr lang="en-AU" b="1" noProof="0" dirty="0"/>
              <a:t>deep</a:t>
            </a:r>
            <a:r>
              <a:rPr lang="en-AU" noProof="0" dirty="0"/>
              <a:t> waveguide</a:t>
            </a:r>
          </a:p>
          <a:p>
            <a:pPr algn="ctr"/>
            <a:endParaRPr lang="en-AU" noProof="0" dirty="0"/>
          </a:p>
          <a:p>
            <a:pPr algn="ctr"/>
            <a:r>
              <a:rPr lang="en-AU" noProof="0" dirty="0"/>
              <a:t>Paste propagation plot and console results</a:t>
            </a:r>
          </a:p>
          <a:p>
            <a:pPr algn="ctr"/>
            <a:endParaRPr lang="en-AU" noProof="0" dirty="0"/>
          </a:p>
          <a:p>
            <a:pPr algn="ctr"/>
            <a:endParaRPr lang="en-AU" noProof="0" dirty="0"/>
          </a:p>
          <a:p>
            <a:pPr algn="r"/>
            <a:r>
              <a:rPr lang="en-AU" sz="1600" b="1" noProof="0" dirty="0"/>
              <a:t>Target</a:t>
            </a:r>
            <a:r>
              <a:rPr lang="en-AU" sz="1600" noProof="0" dirty="0"/>
              <a:t>: make equal ratio over outputs (even if not 0.5) and minimize excess loss (even if not 0.0 dB)</a:t>
            </a:r>
          </a:p>
          <a:p>
            <a:pPr algn="r"/>
            <a:r>
              <a:rPr lang="en-AU" sz="1600" noProof="0" dirty="0"/>
              <a:t>With same settings of previous LO, now adjust try to manually optimize the MMI by changing iteratively:</a:t>
            </a:r>
          </a:p>
          <a:p>
            <a:pPr algn="r"/>
            <a:r>
              <a:rPr lang="en-AU" sz="1600" noProof="0" dirty="0"/>
              <a:t>- Change </a:t>
            </a:r>
            <a:r>
              <a:rPr lang="en-AU" sz="1600" noProof="0" dirty="0" err="1"/>
              <a:t>dL_MMI</a:t>
            </a:r>
            <a:endParaRPr lang="en-AU" sz="1600" noProof="0" dirty="0"/>
          </a:p>
          <a:p>
            <a:pPr algn="r"/>
            <a:r>
              <a:rPr lang="en-AU" sz="1600" noProof="0" dirty="0"/>
              <a:t>- Change I/O waveguide position +/- </a:t>
            </a:r>
            <a:r>
              <a:rPr lang="en-AU" sz="1600" noProof="0" dirty="0" err="1"/>
              <a:t>dy</a:t>
            </a:r>
            <a:endParaRPr lang="en-AU" sz="1600" noProof="0" dirty="0"/>
          </a:p>
          <a:p>
            <a:pPr algn="r"/>
            <a:r>
              <a:rPr lang="en-AU" sz="1600" b="1" noProof="0" dirty="0"/>
              <a:t>Hints</a:t>
            </a:r>
            <a:r>
              <a:rPr lang="en-AU" sz="1600" noProof="0" dirty="0"/>
              <a:t>: observe the 2D EME propagation results to guide you to the best settings of a) and b).</a:t>
            </a:r>
          </a:p>
        </p:txBody>
      </p:sp>
      <p:pic>
        <p:nvPicPr>
          <p:cNvPr id="4" name="Obraz 3">
            <a:extLst>
              <a:ext uri="{FF2B5EF4-FFF2-40B4-BE49-F238E27FC236}">
                <a16:creationId xmlns:a16="http://schemas.microsoft.com/office/drawing/2014/main" id="{CC55BBBC-9C58-749C-B2C0-3543A4E822CE}"/>
              </a:ext>
            </a:extLst>
          </p:cNvPr>
          <p:cNvPicPr>
            <a:picLocks noChangeAspect="1"/>
          </p:cNvPicPr>
          <p:nvPr/>
        </p:nvPicPr>
        <p:blipFill>
          <a:blip r:embed="rId4"/>
          <a:stretch>
            <a:fillRect/>
          </a:stretch>
        </p:blipFill>
        <p:spPr>
          <a:xfrm>
            <a:off x="701040" y="1720798"/>
            <a:ext cx="3177815" cy="2309060"/>
          </a:xfrm>
          <a:prstGeom prst="rect">
            <a:avLst/>
          </a:prstGeom>
        </p:spPr>
      </p:pic>
      <p:pic>
        <p:nvPicPr>
          <p:cNvPr id="5" name="Obraz 4">
            <a:extLst>
              <a:ext uri="{FF2B5EF4-FFF2-40B4-BE49-F238E27FC236}">
                <a16:creationId xmlns:a16="http://schemas.microsoft.com/office/drawing/2014/main" id="{2B5CCE70-3249-72D1-747C-F161E99DC9C9}"/>
              </a:ext>
            </a:extLst>
          </p:cNvPr>
          <p:cNvPicPr>
            <a:picLocks noChangeAspect="1"/>
          </p:cNvPicPr>
          <p:nvPr/>
        </p:nvPicPr>
        <p:blipFill>
          <a:blip r:embed="rId5"/>
          <a:stretch>
            <a:fillRect/>
          </a:stretch>
        </p:blipFill>
        <p:spPr>
          <a:xfrm>
            <a:off x="5336123" y="1761771"/>
            <a:ext cx="6484175" cy="2708434"/>
          </a:xfrm>
          <a:prstGeom prst="rect">
            <a:avLst/>
          </a:prstGeom>
        </p:spPr>
      </p:pic>
    </p:spTree>
    <p:extLst>
      <p:ext uri="{BB962C8B-B14F-4D97-AF65-F5344CB8AC3E}">
        <p14:creationId xmlns:p14="http://schemas.microsoft.com/office/powerpoint/2010/main" val="2685215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AU" sz="2500" noProof="0" dirty="0"/>
              <a:t>Learning outcome #6.3 – 2x2 Multimode Interference Coupler – Optimization (II)</a:t>
            </a:r>
            <a:br>
              <a:rPr lang="en-AU" sz="2500" noProof="0" dirty="0"/>
            </a:br>
            <a:r>
              <a:rPr lang="en-AU" b="0" noProof="0" dirty="0"/>
              <a:t>Wavelength 1.55 µm, </a:t>
            </a:r>
            <a:r>
              <a:rPr lang="en-AU" b="0" noProof="0" dirty="0" err="1"/>
              <a:t>wMMI</a:t>
            </a:r>
            <a:r>
              <a:rPr lang="en-AU" b="0" noProof="0" dirty="0"/>
              <a:t> = 6.6 µm</a:t>
            </a:r>
            <a:endParaRPr lang="en-AU" sz="2500" b="0" noProof="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n-AU" noProof="0" smtClean="0"/>
              <a:t>20</a:t>
            </a:fld>
            <a:endParaRPr lang="en-AU" noProof="0" dirty="0"/>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n-AU" spc="-5" noProof="0" dirty="0"/>
              <a:t>LAB 2.0. COUPLERS</a:t>
            </a:r>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AU" sz="1200" noProof="0" dirty="0">
                <a:latin typeface="Arial" panose="020B0604020202020204" pitchFamily="34" charset="0"/>
                <a:cs typeface="Arial" panose="020B0604020202020204" pitchFamily="34" charset="0"/>
              </a:rPr>
              <a:t>Comment results</a:t>
            </a:r>
          </a:p>
          <a:p>
            <a:pPr algn="just"/>
            <a:endParaRPr lang="pl-PL" sz="1200" noProof="0" dirty="0">
              <a:latin typeface="Arial" panose="020B0604020202020204" pitchFamily="34" charset="0"/>
              <a:cs typeface="Arial" panose="020B0604020202020204" pitchFamily="34" charset="0"/>
            </a:endParaRPr>
          </a:p>
          <a:p>
            <a:pPr algn="just"/>
            <a:r>
              <a:rPr lang="en-US" sz="1200" noProof="0" dirty="0">
                <a:latin typeface="Arial" panose="020B0604020202020204" pitchFamily="34" charset="0"/>
                <a:cs typeface="Arial" panose="020B0604020202020204" pitchFamily="34" charset="0"/>
              </a:rPr>
              <a:t>Target achieved. Increasing the I/O waveguide width reduced the excess loss to ~0.084 dB (satisfying the &lt; 0.1 dB requirement) while preserving an optimal power splitting ratio of 0.5045 to 0.4955.</a:t>
            </a:r>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8" name="CuadroTexto 7">
            <a:extLst>
              <a:ext uri="{FF2B5EF4-FFF2-40B4-BE49-F238E27FC236}">
                <a16:creationId xmlns:a16="http://schemas.microsoft.com/office/drawing/2014/main" id="{B0CFB20A-64F3-A296-71E8-F4FA17D35314}"/>
              </a:ext>
            </a:extLst>
          </p:cNvPr>
          <p:cNvSpPr txBox="1"/>
          <p:nvPr/>
        </p:nvSpPr>
        <p:spPr>
          <a:xfrm>
            <a:off x="640245" y="1942909"/>
            <a:ext cx="11199972" cy="2708434"/>
          </a:xfrm>
          <a:prstGeom prst="rect">
            <a:avLst/>
          </a:prstGeom>
          <a:noFill/>
        </p:spPr>
        <p:txBody>
          <a:bodyPr wrap="square" rtlCol="0">
            <a:spAutoFit/>
          </a:bodyPr>
          <a:lstStyle/>
          <a:p>
            <a:pPr algn="ctr"/>
            <a:r>
              <a:rPr lang="en-AU" b="1" noProof="0" dirty="0"/>
              <a:t>deep</a:t>
            </a:r>
            <a:r>
              <a:rPr lang="en-AU" noProof="0" dirty="0"/>
              <a:t> waveguide</a:t>
            </a:r>
          </a:p>
          <a:p>
            <a:pPr algn="ctr"/>
            <a:endParaRPr lang="en-AU" noProof="0" dirty="0"/>
          </a:p>
          <a:p>
            <a:pPr algn="ctr"/>
            <a:r>
              <a:rPr lang="en-AU" noProof="0" dirty="0"/>
              <a:t>Paste propagation plot and console results</a:t>
            </a:r>
          </a:p>
          <a:p>
            <a:pPr algn="ctr"/>
            <a:endParaRPr lang="en-AU" noProof="0" dirty="0"/>
          </a:p>
          <a:p>
            <a:pPr algn="ctr"/>
            <a:endParaRPr lang="en-AU" noProof="0" dirty="0"/>
          </a:p>
          <a:p>
            <a:pPr algn="r"/>
            <a:r>
              <a:rPr lang="en-AU" sz="1600" b="1" noProof="0" dirty="0"/>
              <a:t>Target</a:t>
            </a:r>
            <a:r>
              <a:rPr lang="en-AU" sz="1600" noProof="0" dirty="0"/>
              <a:t>: make ratio over outputs 0.5 + excess loss &lt; 0.1 dB</a:t>
            </a:r>
          </a:p>
          <a:p>
            <a:pPr algn="r"/>
            <a:r>
              <a:rPr lang="en-AU" sz="1600" noProof="0" dirty="0"/>
              <a:t>With same settings of previous LO, now modify the notebook so I/O waveguides have a different width. </a:t>
            </a:r>
          </a:p>
          <a:p>
            <a:pPr algn="r"/>
            <a:r>
              <a:rPr lang="en-AU" sz="1600" u="sng" noProof="0" dirty="0"/>
              <a:t>- The nominal I/O waveguide width you have been using is 1.0 µm, increase it.</a:t>
            </a:r>
          </a:p>
          <a:p>
            <a:pPr algn="r"/>
            <a:r>
              <a:rPr lang="en-AU" sz="1600" b="1" noProof="0" dirty="0"/>
              <a:t>(Warning</a:t>
            </a:r>
            <a:r>
              <a:rPr lang="en-AU" sz="1600" noProof="0" dirty="0"/>
              <a:t>! Every time you change the I/O waveguide width you have to re-run modes calculation)</a:t>
            </a:r>
          </a:p>
          <a:p>
            <a:pPr algn="r"/>
            <a:r>
              <a:rPr lang="en-AU" sz="1600" b="1" noProof="0" dirty="0"/>
              <a:t>Hints</a:t>
            </a:r>
            <a:r>
              <a:rPr lang="en-AU" sz="1600" noProof="0" dirty="0"/>
              <a:t>: observe the 2D EME propagation results to guide you to the best settings of a) and b).</a:t>
            </a:r>
          </a:p>
        </p:txBody>
      </p:sp>
      <p:pic>
        <p:nvPicPr>
          <p:cNvPr id="11" name="Obraz 10">
            <a:extLst>
              <a:ext uri="{FF2B5EF4-FFF2-40B4-BE49-F238E27FC236}">
                <a16:creationId xmlns:a16="http://schemas.microsoft.com/office/drawing/2014/main" id="{42362BBF-D239-DE5F-259F-B483A8AF3339}"/>
              </a:ext>
            </a:extLst>
          </p:cNvPr>
          <p:cNvPicPr>
            <a:picLocks noChangeAspect="1"/>
          </p:cNvPicPr>
          <p:nvPr/>
        </p:nvPicPr>
        <p:blipFill>
          <a:blip r:embed="rId4"/>
          <a:stretch>
            <a:fillRect/>
          </a:stretch>
        </p:blipFill>
        <p:spPr>
          <a:xfrm>
            <a:off x="975863" y="1497005"/>
            <a:ext cx="3971427" cy="2894597"/>
          </a:xfrm>
          <a:prstGeom prst="rect">
            <a:avLst/>
          </a:prstGeom>
        </p:spPr>
      </p:pic>
      <p:pic>
        <p:nvPicPr>
          <p:cNvPr id="13" name="Obraz 12">
            <a:extLst>
              <a:ext uri="{FF2B5EF4-FFF2-40B4-BE49-F238E27FC236}">
                <a16:creationId xmlns:a16="http://schemas.microsoft.com/office/drawing/2014/main" id="{F9919D81-61D4-2322-42DB-9A23EF30B993}"/>
              </a:ext>
            </a:extLst>
          </p:cNvPr>
          <p:cNvPicPr>
            <a:picLocks noChangeAspect="1"/>
          </p:cNvPicPr>
          <p:nvPr/>
        </p:nvPicPr>
        <p:blipFill>
          <a:blip r:embed="rId5"/>
          <a:stretch>
            <a:fillRect/>
          </a:stretch>
        </p:blipFill>
        <p:spPr>
          <a:xfrm>
            <a:off x="4978095" y="1597430"/>
            <a:ext cx="6702115" cy="2763881"/>
          </a:xfrm>
          <a:prstGeom prst="rect">
            <a:avLst/>
          </a:prstGeom>
        </p:spPr>
      </p:pic>
    </p:spTree>
    <p:extLst>
      <p:ext uri="{BB962C8B-B14F-4D97-AF65-F5344CB8AC3E}">
        <p14:creationId xmlns:p14="http://schemas.microsoft.com/office/powerpoint/2010/main" val="10237312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AU" sz="2500" noProof="0" dirty="0"/>
              <a:t>Learning outcome #7 – 1x4 Multimode Interference Coupler </a:t>
            </a:r>
            <a:br>
              <a:rPr lang="en-AU" sz="2500" noProof="0" dirty="0"/>
            </a:br>
            <a:r>
              <a:rPr lang="en-AU" b="0" noProof="0" dirty="0"/>
              <a:t>Wavelength 1.55 µm, </a:t>
            </a:r>
            <a:r>
              <a:rPr lang="en-AU" b="0" noProof="0" dirty="0" err="1"/>
              <a:t>wMMI</a:t>
            </a:r>
            <a:r>
              <a:rPr lang="en-AU" b="0" noProof="0" dirty="0"/>
              <a:t> = ? µm</a:t>
            </a:r>
            <a:endParaRPr lang="en-AU" sz="2500" b="0" noProof="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n-AU" noProof="0" smtClean="0"/>
              <a:t>21</a:t>
            </a:fld>
            <a:endParaRPr lang="en-AU" noProof="0" dirty="0"/>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n-AU" spc="-5" noProof="0" dirty="0"/>
              <a:t>LAB 2.0. COUPLERS</a:t>
            </a:r>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AU" sz="1200" noProof="0" dirty="0">
                <a:latin typeface="Arial" panose="020B0604020202020204" pitchFamily="34" charset="0"/>
                <a:cs typeface="Arial" panose="020B0604020202020204" pitchFamily="34" charset="0"/>
              </a:rPr>
              <a:t>Repeat all the design process for a 1x4 MMI Coupler.  </a:t>
            </a:r>
          </a:p>
          <a:p>
            <a:pPr algn="just"/>
            <a:endParaRPr lang="en-AU" sz="1200" noProof="0" dirty="0">
              <a:latin typeface="Arial" panose="020B0604020202020204" pitchFamily="34" charset="0"/>
              <a:cs typeface="Arial" panose="020B0604020202020204" pitchFamily="34" charset="0"/>
            </a:endParaRPr>
          </a:p>
          <a:p>
            <a:pPr algn="just"/>
            <a:r>
              <a:rPr lang="pl-PL" sz="1200" noProof="0" dirty="0" err="1">
                <a:latin typeface="Arial" panose="020B0604020202020204" pitchFamily="34" charset="0"/>
                <a:cs typeface="Arial" panose="020B0604020202020204" pitchFamily="34" charset="0"/>
              </a:rPr>
              <a:t>wMMI</a:t>
            </a:r>
            <a:r>
              <a:rPr lang="pl-PL" sz="1200" noProof="0" dirty="0">
                <a:latin typeface="Arial" panose="020B0604020202020204" pitchFamily="34" charset="0"/>
                <a:cs typeface="Arial" panose="020B0604020202020204" pitchFamily="34" charset="0"/>
              </a:rPr>
              <a:t> = 12 </a:t>
            </a:r>
            <a:r>
              <a:rPr lang="pl-PL" sz="1200" noProof="0" dirty="0" err="1">
                <a:latin typeface="Arial" panose="020B0604020202020204" pitchFamily="34" charset="0"/>
                <a:cs typeface="Arial" panose="020B0604020202020204" pitchFamily="34" charset="0"/>
              </a:rPr>
              <a:t>um</a:t>
            </a:r>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8" name="CuadroTexto 7">
            <a:extLst>
              <a:ext uri="{FF2B5EF4-FFF2-40B4-BE49-F238E27FC236}">
                <a16:creationId xmlns:a16="http://schemas.microsoft.com/office/drawing/2014/main" id="{C3506757-32B7-9151-DA89-AADDB7F7D093}"/>
              </a:ext>
            </a:extLst>
          </p:cNvPr>
          <p:cNvSpPr txBox="1"/>
          <p:nvPr/>
        </p:nvSpPr>
        <p:spPr>
          <a:xfrm>
            <a:off x="2286000" y="2630415"/>
            <a:ext cx="7718580" cy="923330"/>
          </a:xfrm>
          <a:prstGeom prst="rect">
            <a:avLst/>
          </a:prstGeom>
          <a:noFill/>
        </p:spPr>
        <p:txBody>
          <a:bodyPr wrap="square" rtlCol="0">
            <a:spAutoFit/>
          </a:bodyPr>
          <a:lstStyle/>
          <a:p>
            <a:pPr algn="ctr"/>
            <a:r>
              <a:rPr lang="en-AU" b="1" noProof="0" dirty="0"/>
              <a:t>deep</a:t>
            </a:r>
            <a:r>
              <a:rPr lang="en-AU" noProof="0" dirty="0"/>
              <a:t> waveguide</a:t>
            </a:r>
          </a:p>
          <a:p>
            <a:pPr algn="ctr"/>
            <a:endParaRPr lang="en-AU" noProof="0" dirty="0"/>
          </a:p>
          <a:p>
            <a:pPr algn="ctr"/>
            <a:r>
              <a:rPr lang="en-AU" noProof="0" dirty="0"/>
              <a:t>Paste propagation plots and console results</a:t>
            </a:r>
          </a:p>
        </p:txBody>
      </p:sp>
      <p:pic>
        <p:nvPicPr>
          <p:cNvPr id="5" name="Obraz 4">
            <a:extLst>
              <a:ext uri="{FF2B5EF4-FFF2-40B4-BE49-F238E27FC236}">
                <a16:creationId xmlns:a16="http://schemas.microsoft.com/office/drawing/2014/main" id="{252D40EA-E1A3-DBC2-918A-1946D7887CBD}"/>
              </a:ext>
            </a:extLst>
          </p:cNvPr>
          <p:cNvPicPr>
            <a:picLocks noChangeAspect="1"/>
          </p:cNvPicPr>
          <p:nvPr/>
        </p:nvPicPr>
        <p:blipFill>
          <a:blip r:embed="rId4"/>
          <a:stretch>
            <a:fillRect/>
          </a:stretch>
        </p:blipFill>
        <p:spPr>
          <a:xfrm>
            <a:off x="3967970" y="1354365"/>
            <a:ext cx="4256060" cy="3222376"/>
          </a:xfrm>
          <a:prstGeom prst="rect">
            <a:avLst/>
          </a:prstGeom>
        </p:spPr>
      </p:pic>
    </p:spTree>
    <p:extLst>
      <p:ext uri="{BB962C8B-B14F-4D97-AF65-F5344CB8AC3E}">
        <p14:creationId xmlns:p14="http://schemas.microsoft.com/office/powerpoint/2010/main" val="699864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AU" sz="2500" noProof="0" dirty="0"/>
              <a:t>Extra #1 – Directional coupler gap dependence</a:t>
            </a:r>
            <a:br>
              <a:rPr lang="en-AU" sz="2500" noProof="0" dirty="0"/>
            </a:br>
            <a:r>
              <a:rPr lang="en-AU" b="0" noProof="0" dirty="0"/>
              <a:t>Wavelength 1.55 µm, width 1.0 µm, </a:t>
            </a:r>
            <a:r>
              <a:rPr lang="en-AU" noProof="0" dirty="0"/>
              <a:t>gap 0.2-2.4 µm </a:t>
            </a:r>
            <a:r>
              <a:rPr lang="en-AU" b="0" noProof="0" dirty="0"/>
              <a:t>(step 0.2 µm)</a:t>
            </a:r>
            <a:br>
              <a:rPr lang="en-AU" sz="2500" spc="-5" noProof="0" dirty="0">
                <a:latin typeface="+mj-lt"/>
                <a:cs typeface="Lucida Sans"/>
              </a:rPr>
            </a:br>
            <a:endParaRPr lang="en-AU" sz="2500" b="0" noProof="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n-AU" noProof="0" smtClean="0"/>
              <a:t>22</a:t>
            </a:fld>
            <a:endParaRPr lang="en-AU" noProof="0" dirty="0"/>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n-AU" spc="-5" noProof="0" dirty="0"/>
              <a:t>LAB 2.0. COUPLERS</a:t>
            </a: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AU" sz="1200" noProof="0" dirty="0">
                <a:latin typeface="Arial" panose="020B0604020202020204" pitchFamily="34" charset="0"/>
                <a:cs typeface="Arial" panose="020B0604020202020204" pitchFamily="34" charset="0"/>
              </a:rPr>
              <a:t>Make conclusions and observations from your results</a:t>
            </a: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AU" noProof="0" dirty="0"/>
              <a:t>slab = 150nm</a:t>
            </a: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AU" b="1" noProof="0" dirty="0"/>
                  <a:t>deep</a:t>
                </a:r>
                <a:r>
                  <a:rPr lang="en-AU" noProof="0" dirty="0"/>
                  <a:t> waveguide</a:t>
                </a:r>
              </a:p>
              <a:p>
                <a:pPr algn="ctr"/>
                <a:endParaRPr lang="en-AU" noProof="0" dirty="0"/>
              </a:p>
              <a:p>
                <a:pPr algn="ctr"/>
                <a:r>
                  <a:rPr lang="en-AU" noProof="0" dirty="0"/>
                  <a:t>Paste </a:t>
                </a:r>
                <a14:m>
                  <m:oMath xmlns:m="http://schemas.openxmlformats.org/officeDocument/2006/math">
                    <m:sSub>
                      <m:sSubPr>
                        <m:ctrlPr>
                          <a:rPr lang="en-AU" sz="1800" b="0" i="1" noProof="0" smtClean="0">
                            <a:latin typeface="Cambria Math" panose="02040503050406030204" pitchFamily="18" charset="0"/>
                          </a:rPr>
                        </m:ctrlPr>
                      </m:sSubPr>
                      <m:e>
                        <m:r>
                          <a:rPr lang="en-AU" sz="1800" b="0" i="1" noProof="0" smtClean="0">
                            <a:latin typeface="Cambria Math" panose="02040503050406030204" pitchFamily="18" charset="0"/>
                          </a:rPr>
                          <m:t>𝐿</m:t>
                        </m:r>
                      </m:e>
                      <m:sub>
                        <m:r>
                          <a:rPr lang="en-AU" sz="1800" b="0" i="1" noProof="0" smtClean="0">
                            <a:latin typeface="Cambria Math" panose="02040503050406030204" pitchFamily="18" charset="0"/>
                          </a:rPr>
                          <m:t>𝜋</m:t>
                        </m:r>
                      </m:sub>
                    </m:sSub>
                  </m:oMath>
                </a14:m>
                <a:r>
                  <a:rPr lang="en-AU" noProof="0" dirty="0"/>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AU" b="1" noProof="0" dirty="0"/>
                  <a:t>shallow</a:t>
                </a:r>
                <a:r>
                  <a:rPr lang="en-AU" noProof="0" dirty="0"/>
                  <a:t> waveguide</a:t>
                </a:r>
              </a:p>
              <a:p>
                <a:pPr algn="ctr"/>
                <a:endParaRPr lang="en-AU" noProof="0" dirty="0"/>
              </a:p>
              <a:p>
                <a:pPr algn="ctr"/>
                <a:r>
                  <a:rPr lang="en-AU" noProof="0" dirty="0"/>
                  <a:t>Paste </a:t>
                </a:r>
                <a14:m>
                  <m:oMath xmlns:m="http://schemas.openxmlformats.org/officeDocument/2006/math">
                    <m:sSub>
                      <m:sSubPr>
                        <m:ctrlPr>
                          <a:rPr lang="en-AU" sz="1800" b="0" i="1" noProof="0" smtClean="0">
                            <a:latin typeface="Cambria Math" panose="02040503050406030204" pitchFamily="18" charset="0"/>
                          </a:rPr>
                        </m:ctrlPr>
                      </m:sSubPr>
                      <m:e>
                        <m:r>
                          <a:rPr lang="en-AU" sz="1800" b="0" i="1" noProof="0" smtClean="0">
                            <a:latin typeface="Cambria Math" panose="02040503050406030204" pitchFamily="18" charset="0"/>
                          </a:rPr>
                          <m:t>𝐿</m:t>
                        </m:r>
                      </m:e>
                      <m:sub>
                        <m:r>
                          <a:rPr lang="en-AU" sz="1800" b="0" i="1" noProof="0" smtClean="0">
                            <a:latin typeface="Cambria Math" panose="02040503050406030204" pitchFamily="18" charset="0"/>
                          </a:rPr>
                          <m:t>𝜋</m:t>
                        </m:r>
                      </m:sub>
                    </m:sSub>
                  </m:oMath>
                </a14:m>
                <a:r>
                  <a:rPr lang="en-AU" noProof="0" dirty="0"/>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pl-PL">
                    <a:noFill/>
                  </a:rPr>
                  <a:t> </a:t>
                </a:r>
              </a:p>
            </p:txBody>
          </p:sp>
        </mc:Fallback>
      </mc:AlternateContent>
    </p:spTree>
    <p:extLst>
      <p:ext uri="{BB962C8B-B14F-4D97-AF65-F5344CB8AC3E}">
        <p14:creationId xmlns:p14="http://schemas.microsoft.com/office/powerpoint/2010/main" val="1797963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AU" sz="2500" noProof="0" dirty="0"/>
              <a:t>Extra #2 – Directional wavelength dependence</a:t>
            </a:r>
            <a:br>
              <a:rPr lang="en-AU" sz="2500" noProof="0" dirty="0"/>
            </a:br>
            <a:r>
              <a:rPr lang="en-AU" b="0" noProof="0" dirty="0"/>
              <a:t>Wavelengths </a:t>
            </a:r>
            <a:r>
              <a:rPr lang="en-AU" noProof="0" dirty="0"/>
              <a:t>from 1.5 to 1.7 µm</a:t>
            </a:r>
            <a:r>
              <a:rPr lang="en-AU" b="0" noProof="0" dirty="0"/>
              <a:t>, gap = 0.6 µm, width 1.0 µm</a:t>
            </a:r>
            <a:br>
              <a:rPr lang="en-AU" b="0" noProof="0" dirty="0"/>
            </a:br>
            <a:br>
              <a:rPr lang="en-AU" sz="2500" spc="-5" noProof="0" dirty="0">
                <a:latin typeface="+mj-lt"/>
                <a:cs typeface="Lucida Sans"/>
              </a:rPr>
            </a:br>
            <a:endParaRPr lang="en-AU" sz="2500" b="0" noProof="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n-AU" noProof="0" smtClean="0"/>
              <a:t>23</a:t>
            </a:fld>
            <a:endParaRPr lang="en-AU" noProof="0" dirty="0"/>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n-AU" spc="-5" noProof="0" dirty="0"/>
              <a:t>LAB 2.0. COUPLERS</a:t>
            </a:r>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AU" sz="1200" noProof="0" dirty="0">
                <a:latin typeface="Arial" panose="020B0604020202020204" pitchFamily="34" charset="0"/>
                <a:cs typeface="Arial" panose="020B0604020202020204" pitchFamily="34" charset="0"/>
              </a:rPr>
              <a:t>Comment results</a:t>
            </a: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AU" noProof="0" dirty="0"/>
              <a:t>slab = 150nm</a:t>
            </a: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AU" b="1" noProof="0" dirty="0"/>
                  <a:t>deep</a:t>
                </a:r>
                <a:r>
                  <a:rPr lang="en-AU" noProof="0" dirty="0"/>
                  <a:t> waveguide</a:t>
                </a:r>
              </a:p>
              <a:p>
                <a:pPr algn="ctr"/>
                <a:endParaRPr lang="en-AU" noProof="0" dirty="0"/>
              </a:p>
              <a:p>
                <a:pPr algn="ctr"/>
                <a:r>
                  <a:rPr lang="en-AU" noProof="0" dirty="0"/>
                  <a:t>Paste </a:t>
                </a:r>
                <a14:m>
                  <m:oMath xmlns:m="http://schemas.openxmlformats.org/officeDocument/2006/math">
                    <m:sSub>
                      <m:sSubPr>
                        <m:ctrlPr>
                          <a:rPr lang="en-AU" sz="1800" b="0" i="1" noProof="0" smtClean="0">
                            <a:latin typeface="Cambria Math" panose="02040503050406030204" pitchFamily="18" charset="0"/>
                          </a:rPr>
                        </m:ctrlPr>
                      </m:sSubPr>
                      <m:e>
                        <m:r>
                          <a:rPr lang="en-AU" sz="1800" b="0" i="1" noProof="0" smtClean="0">
                            <a:latin typeface="Cambria Math" panose="02040503050406030204" pitchFamily="18" charset="0"/>
                          </a:rPr>
                          <m:t>𝐿</m:t>
                        </m:r>
                      </m:e>
                      <m:sub>
                        <m:r>
                          <a:rPr lang="en-AU" sz="1800" b="0" i="1" noProof="0" smtClean="0">
                            <a:latin typeface="Cambria Math" panose="02040503050406030204" pitchFamily="18" charset="0"/>
                          </a:rPr>
                          <m:t>𝜋</m:t>
                        </m:r>
                      </m:sub>
                    </m:sSub>
                  </m:oMath>
                </a14:m>
                <a:r>
                  <a:rPr lang="en-AU" noProof="0" dirty="0"/>
                  <a:t> vs </a:t>
                </a:r>
                <a:r>
                  <a:rPr lang="en-AU" noProof="0" dirty="0" err="1"/>
                  <a:t>wvl</a:t>
                </a:r>
                <a:r>
                  <a:rPr lang="en-AU" noProof="0" dirty="0"/>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AU" b="1" noProof="0" dirty="0"/>
                  <a:t>shallow</a:t>
                </a:r>
                <a:r>
                  <a:rPr lang="en-AU" noProof="0" dirty="0"/>
                  <a:t> waveguide</a:t>
                </a:r>
              </a:p>
              <a:p>
                <a:pPr algn="ctr"/>
                <a:endParaRPr lang="en-AU" noProof="0" dirty="0"/>
              </a:p>
              <a:p>
                <a:pPr algn="ctr"/>
                <a:r>
                  <a:rPr lang="en-AU" noProof="0" dirty="0"/>
                  <a:t>Paste </a:t>
                </a:r>
                <a14:m>
                  <m:oMath xmlns:m="http://schemas.openxmlformats.org/officeDocument/2006/math">
                    <m:sSub>
                      <m:sSubPr>
                        <m:ctrlPr>
                          <a:rPr lang="en-AU" sz="1800" b="0" i="1" noProof="0" smtClean="0">
                            <a:latin typeface="Cambria Math" panose="02040503050406030204" pitchFamily="18" charset="0"/>
                          </a:rPr>
                        </m:ctrlPr>
                      </m:sSubPr>
                      <m:e>
                        <m:r>
                          <a:rPr lang="en-AU" sz="1800" b="0" i="1" noProof="0" smtClean="0">
                            <a:latin typeface="Cambria Math" panose="02040503050406030204" pitchFamily="18" charset="0"/>
                          </a:rPr>
                          <m:t>𝐿</m:t>
                        </m:r>
                      </m:e>
                      <m:sub>
                        <m:r>
                          <a:rPr lang="en-AU" sz="1800" b="0" i="1" noProof="0" smtClean="0">
                            <a:latin typeface="Cambria Math" panose="02040503050406030204" pitchFamily="18" charset="0"/>
                          </a:rPr>
                          <m:t>𝜋</m:t>
                        </m:r>
                      </m:sub>
                    </m:sSub>
                  </m:oMath>
                </a14:m>
                <a:r>
                  <a:rPr lang="en-AU" noProof="0" dirty="0"/>
                  <a:t> vs </a:t>
                </a:r>
                <a:r>
                  <a:rPr lang="en-AU" noProof="0" dirty="0" err="1"/>
                  <a:t>wvl</a:t>
                </a:r>
                <a:r>
                  <a:rPr lang="en-AU" noProof="0" dirty="0"/>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pl-PL">
                    <a:noFill/>
                  </a:rPr>
                  <a:t> </a:t>
                </a:r>
              </a:p>
            </p:txBody>
          </p:sp>
        </mc:Fallback>
      </mc:AlternateContent>
    </p:spTree>
    <p:extLst>
      <p:ext uri="{BB962C8B-B14F-4D97-AF65-F5344CB8AC3E}">
        <p14:creationId xmlns:p14="http://schemas.microsoft.com/office/powerpoint/2010/main" val="8135580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AU" sz="2500" noProof="0" dirty="0"/>
              <a:t>Extra #3 – MMI coupler wavelength dependence</a:t>
            </a:r>
            <a:br>
              <a:rPr lang="en-AU" sz="2500" spc="-5" noProof="0" dirty="0">
                <a:latin typeface="+mj-lt"/>
                <a:cs typeface="Lucida Sans"/>
              </a:rPr>
            </a:br>
            <a:r>
              <a:rPr lang="en-AU" b="0" noProof="0" dirty="0"/>
              <a:t>Wavelengths from 1.5 to 1.7 µm, </a:t>
            </a:r>
            <a:r>
              <a:rPr lang="en-AU" b="0" noProof="0" dirty="0" err="1"/>
              <a:t>wMMI</a:t>
            </a:r>
            <a:r>
              <a:rPr lang="en-AU" b="0" noProof="0" dirty="0"/>
              <a:t> = 6.6 µm</a:t>
            </a:r>
            <a:endParaRPr lang="en-AU" sz="2500" b="0" noProof="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n-AU" noProof="0" smtClean="0"/>
              <a:t>24</a:t>
            </a:fld>
            <a:endParaRPr lang="en-AU" noProof="0" dirty="0"/>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n-AU" spc="-5" noProof="0" dirty="0"/>
              <a:t>LAB 2.0. COUPLERS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AU" sz="1200" noProof="0" dirty="0">
                <a:latin typeface="Arial" panose="020B0604020202020204" pitchFamily="34" charset="0"/>
                <a:cs typeface="Arial" panose="020B0604020202020204" pitchFamily="34" charset="0"/>
              </a:rPr>
              <a:t>Comment results (Important. Compare with Directional Coupler)</a:t>
            </a: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AU" noProof="0" dirty="0"/>
              <a:t>slab = 150nm</a:t>
            </a: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AU" b="1" noProof="0" dirty="0"/>
                  <a:t>deep</a:t>
                </a:r>
                <a:r>
                  <a:rPr lang="en-AU" noProof="0" dirty="0"/>
                  <a:t> waveguide</a:t>
                </a:r>
              </a:p>
              <a:p>
                <a:pPr algn="ctr"/>
                <a:endParaRPr lang="en-AU" noProof="0" dirty="0"/>
              </a:p>
              <a:p>
                <a:pPr algn="ctr"/>
                <a:r>
                  <a:rPr lang="en-AU" noProof="0" dirty="0"/>
                  <a:t>Paste </a:t>
                </a:r>
                <a14:m>
                  <m:oMath xmlns:m="http://schemas.openxmlformats.org/officeDocument/2006/math">
                    <m:sSub>
                      <m:sSubPr>
                        <m:ctrlPr>
                          <a:rPr lang="en-AU" sz="1800" b="0" i="1" noProof="0" smtClean="0">
                            <a:latin typeface="Cambria Math" panose="02040503050406030204" pitchFamily="18" charset="0"/>
                          </a:rPr>
                        </m:ctrlPr>
                      </m:sSubPr>
                      <m:e>
                        <m:r>
                          <a:rPr lang="en-AU" sz="1800" b="0" i="1" noProof="0" smtClean="0">
                            <a:latin typeface="Cambria Math" panose="02040503050406030204" pitchFamily="18" charset="0"/>
                          </a:rPr>
                          <m:t>𝐿</m:t>
                        </m:r>
                      </m:e>
                      <m:sub>
                        <m:r>
                          <a:rPr lang="en-AU" sz="1800" b="0" i="1" noProof="0" smtClean="0">
                            <a:latin typeface="Cambria Math" panose="02040503050406030204" pitchFamily="18" charset="0"/>
                          </a:rPr>
                          <m:t>𝜋</m:t>
                        </m:r>
                      </m:sub>
                    </m:sSub>
                  </m:oMath>
                </a14:m>
                <a:r>
                  <a:rPr lang="en-AU" noProof="0" dirty="0"/>
                  <a:t> vs </a:t>
                </a:r>
                <a:r>
                  <a:rPr lang="en-AU" noProof="0" dirty="0" err="1"/>
                  <a:t>wvl</a:t>
                </a:r>
                <a:r>
                  <a:rPr lang="en-AU" noProof="0" dirty="0"/>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AU" b="1" noProof="0" dirty="0"/>
                  <a:t>shallow</a:t>
                </a:r>
                <a:r>
                  <a:rPr lang="en-AU" noProof="0" dirty="0"/>
                  <a:t> waveguide</a:t>
                </a:r>
              </a:p>
              <a:p>
                <a:pPr algn="ctr"/>
                <a:endParaRPr lang="en-AU" noProof="0" dirty="0"/>
              </a:p>
              <a:p>
                <a:pPr algn="ctr"/>
                <a:r>
                  <a:rPr lang="en-AU" noProof="0" dirty="0"/>
                  <a:t>Paste </a:t>
                </a:r>
                <a14:m>
                  <m:oMath xmlns:m="http://schemas.openxmlformats.org/officeDocument/2006/math">
                    <m:sSub>
                      <m:sSubPr>
                        <m:ctrlPr>
                          <a:rPr lang="en-AU" sz="1800" b="0" i="1" noProof="0" smtClean="0">
                            <a:latin typeface="Cambria Math" panose="02040503050406030204" pitchFamily="18" charset="0"/>
                          </a:rPr>
                        </m:ctrlPr>
                      </m:sSubPr>
                      <m:e>
                        <m:r>
                          <a:rPr lang="en-AU" sz="1800" b="0" i="1" noProof="0" smtClean="0">
                            <a:latin typeface="Cambria Math" panose="02040503050406030204" pitchFamily="18" charset="0"/>
                          </a:rPr>
                          <m:t>𝐿</m:t>
                        </m:r>
                      </m:e>
                      <m:sub>
                        <m:r>
                          <a:rPr lang="en-AU" sz="1800" b="0" i="1" noProof="0" smtClean="0">
                            <a:latin typeface="Cambria Math" panose="02040503050406030204" pitchFamily="18" charset="0"/>
                          </a:rPr>
                          <m:t>𝜋</m:t>
                        </m:r>
                      </m:sub>
                    </m:sSub>
                  </m:oMath>
                </a14:m>
                <a:r>
                  <a:rPr lang="en-AU" noProof="0" dirty="0"/>
                  <a:t> vs </a:t>
                </a:r>
                <a:r>
                  <a:rPr lang="en-AU" noProof="0" dirty="0" err="1"/>
                  <a:t>wvl</a:t>
                </a:r>
                <a:r>
                  <a:rPr lang="en-AU" noProof="0" dirty="0"/>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pl-PL">
                    <a:noFill/>
                  </a:rPr>
                  <a:t> </a:t>
                </a:r>
              </a:p>
            </p:txBody>
          </p:sp>
        </mc:Fallback>
      </mc:AlternateContent>
    </p:spTree>
    <p:extLst>
      <p:ext uri="{BB962C8B-B14F-4D97-AF65-F5344CB8AC3E}">
        <p14:creationId xmlns:p14="http://schemas.microsoft.com/office/powerpoint/2010/main" val="955145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AU" sz="2500" noProof="0" dirty="0"/>
              <a:t>Extra #4 – MMI coupler body width dependence</a:t>
            </a:r>
            <a:br>
              <a:rPr lang="en-AU" sz="2500" spc="-5" noProof="0" dirty="0">
                <a:latin typeface="+mj-lt"/>
                <a:cs typeface="Lucida Sans"/>
              </a:rPr>
            </a:br>
            <a:r>
              <a:rPr lang="en-AU" b="0" noProof="0" dirty="0"/>
              <a:t>Wavelength 1.55 µm, </a:t>
            </a:r>
            <a:r>
              <a:rPr lang="en-AU" b="0" noProof="0" dirty="0" err="1"/>
              <a:t>wMMI</a:t>
            </a:r>
            <a:r>
              <a:rPr lang="en-AU" b="0" noProof="0" dirty="0"/>
              <a:t> = 5-10 µm (steps 0.5 µm)</a:t>
            </a:r>
            <a:endParaRPr lang="en-AU" sz="2500" b="0" noProof="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n-AU" noProof="0" smtClean="0"/>
              <a:t>25</a:t>
            </a:fld>
            <a:endParaRPr lang="en-AU" noProof="0" dirty="0"/>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n-AU" spc="-5" noProof="0" dirty="0"/>
              <a:t>LAB 2.0. COUPLERS</a:t>
            </a:r>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AU" sz="1200" noProof="0" dirty="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a:p>
            <a:pPr algn="just"/>
            <a:endParaRPr lang="en-AU" sz="1200" noProof="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AU" noProof="0" dirty="0"/>
              <a:t>slab = 150nm</a:t>
            </a: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AU" b="1" noProof="0" dirty="0"/>
                  <a:t>deep</a:t>
                </a:r>
                <a:r>
                  <a:rPr lang="en-AU" noProof="0" dirty="0"/>
                  <a:t> waveguide</a:t>
                </a:r>
              </a:p>
              <a:p>
                <a:pPr algn="ctr"/>
                <a:endParaRPr lang="en-AU" noProof="0" dirty="0"/>
              </a:p>
              <a:p>
                <a:pPr algn="ctr"/>
                <a:r>
                  <a:rPr lang="en-AU" noProof="0" dirty="0"/>
                  <a:t>Paste </a:t>
                </a:r>
                <a14:m>
                  <m:oMath xmlns:m="http://schemas.openxmlformats.org/officeDocument/2006/math">
                    <m:sSub>
                      <m:sSubPr>
                        <m:ctrlPr>
                          <a:rPr lang="en-AU" sz="1800" b="0" i="1" noProof="0" smtClean="0">
                            <a:latin typeface="Cambria Math" panose="02040503050406030204" pitchFamily="18" charset="0"/>
                          </a:rPr>
                        </m:ctrlPr>
                      </m:sSubPr>
                      <m:e>
                        <m:r>
                          <a:rPr lang="en-AU" sz="1800" b="0" i="1" noProof="0" smtClean="0">
                            <a:latin typeface="Cambria Math" panose="02040503050406030204" pitchFamily="18" charset="0"/>
                          </a:rPr>
                          <m:t>𝐿</m:t>
                        </m:r>
                      </m:e>
                      <m:sub>
                        <m:r>
                          <a:rPr lang="en-AU" sz="1800" b="0" i="1" noProof="0" smtClean="0">
                            <a:latin typeface="Cambria Math" panose="02040503050406030204" pitchFamily="18" charset="0"/>
                          </a:rPr>
                          <m:t>𝜋</m:t>
                        </m:r>
                      </m:sub>
                    </m:sSub>
                  </m:oMath>
                </a14:m>
                <a:r>
                  <a:rPr lang="en-AU" noProof="0" dirty="0"/>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AU" b="1" noProof="0" dirty="0"/>
                  <a:t>shallow</a:t>
                </a:r>
                <a:r>
                  <a:rPr lang="en-AU" noProof="0" dirty="0"/>
                  <a:t> waveguide</a:t>
                </a:r>
              </a:p>
              <a:p>
                <a:pPr algn="ctr"/>
                <a:endParaRPr lang="en-AU" noProof="0" dirty="0"/>
              </a:p>
              <a:p>
                <a:pPr algn="ctr"/>
                <a:r>
                  <a:rPr lang="en-AU" noProof="0" dirty="0"/>
                  <a:t>Paste </a:t>
                </a:r>
                <a14:m>
                  <m:oMath xmlns:m="http://schemas.openxmlformats.org/officeDocument/2006/math">
                    <m:sSub>
                      <m:sSubPr>
                        <m:ctrlPr>
                          <a:rPr lang="en-AU" sz="1800" b="0" i="1" noProof="0" smtClean="0">
                            <a:latin typeface="Cambria Math" panose="02040503050406030204" pitchFamily="18" charset="0"/>
                          </a:rPr>
                        </m:ctrlPr>
                      </m:sSubPr>
                      <m:e>
                        <m:r>
                          <a:rPr lang="en-AU" sz="1800" b="0" i="1" noProof="0" smtClean="0">
                            <a:latin typeface="Cambria Math" panose="02040503050406030204" pitchFamily="18" charset="0"/>
                          </a:rPr>
                          <m:t>𝐿</m:t>
                        </m:r>
                      </m:e>
                      <m:sub>
                        <m:r>
                          <a:rPr lang="en-AU" sz="1800" b="0" i="1" noProof="0" smtClean="0">
                            <a:latin typeface="Cambria Math" panose="02040503050406030204" pitchFamily="18" charset="0"/>
                          </a:rPr>
                          <m:t>𝜋</m:t>
                        </m:r>
                      </m:sub>
                    </m:sSub>
                  </m:oMath>
                </a14:m>
                <a:r>
                  <a:rPr lang="en-AU" noProof="0" dirty="0"/>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pl-PL">
                    <a:noFill/>
                  </a:rPr>
                  <a:t> </a:t>
                </a:r>
              </a:p>
            </p:txBody>
          </p:sp>
        </mc:Fallback>
      </mc:AlternateContent>
    </p:spTree>
    <p:extLst>
      <p:ext uri="{BB962C8B-B14F-4D97-AF65-F5344CB8AC3E}">
        <p14:creationId xmlns:p14="http://schemas.microsoft.com/office/powerpoint/2010/main" val="5359394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lang="en-AU" noProof="0" dirty="0"/>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lang="en-AU" sz="3200" b="1" spc="-5" noProof="0" dirty="0">
                <a:solidFill>
                  <a:srgbClr val="FFFFFF"/>
                </a:solidFill>
                <a:latin typeface="Lucida Sans"/>
                <a:cs typeface="Lucida Sans"/>
              </a:rPr>
              <a:t>Thank</a:t>
            </a:r>
            <a:r>
              <a:rPr lang="en-AU" sz="3200" b="1" spc="-55" noProof="0" dirty="0">
                <a:solidFill>
                  <a:srgbClr val="FFFFFF"/>
                </a:solidFill>
                <a:latin typeface="Lucida Sans"/>
                <a:cs typeface="Lucida Sans"/>
              </a:rPr>
              <a:t> </a:t>
            </a:r>
            <a:r>
              <a:rPr lang="en-AU" sz="3200" b="1" noProof="0" dirty="0">
                <a:solidFill>
                  <a:srgbClr val="FFFFFF"/>
                </a:solidFill>
                <a:latin typeface="Lucida Sans"/>
                <a:cs typeface="Lucida Sans"/>
              </a:rPr>
              <a:t>you</a:t>
            </a:r>
            <a:endParaRPr lang="en-AU" sz="3200" noProof="0" dirty="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n-AU" noProof="0" smtClean="0"/>
              <a:t>26</a:t>
            </a:fld>
            <a:endParaRPr lang="en-AU"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3730</TotalTime>
  <Words>1570</Words>
  <Application>Microsoft Office PowerPoint</Application>
  <PresentationFormat>Panoramiczny</PresentationFormat>
  <Paragraphs>264</Paragraphs>
  <Slides>26</Slides>
  <Notes>18</Notes>
  <HiddenSlides>0</HiddenSlides>
  <MMClips>0</MMClips>
  <ScaleCrop>false</ScaleCrop>
  <HeadingPairs>
    <vt:vector size="6" baseType="variant">
      <vt:variant>
        <vt:lpstr>Używane czcionki</vt:lpstr>
      </vt:variant>
      <vt:variant>
        <vt:i4>7</vt:i4>
      </vt:variant>
      <vt:variant>
        <vt:lpstr>Motyw</vt:lpstr>
      </vt:variant>
      <vt:variant>
        <vt:i4>1</vt:i4>
      </vt:variant>
      <vt:variant>
        <vt:lpstr>Tytuły slajdów</vt:lpstr>
      </vt:variant>
      <vt:variant>
        <vt:i4>26</vt:i4>
      </vt:variant>
    </vt:vector>
  </HeadingPairs>
  <TitlesOfParts>
    <vt:vector size="34" baseType="lpstr">
      <vt:lpstr>Aptos</vt:lpstr>
      <vt:lpstr>Arial</vt:lpstr>
      <vt:lpstr>Calibri</vt:lpstr>
      <vt:lpstr>Cambria Math</vt:lpstr>
      <vt:lpstr>Lucida Sans</vt:lpstr>
      <vt:lpstr>Times New Roman</vt:lpstr>
      <vt:lpstr>Wingdings</vt:lpstr>
      <vt:lpstr>Office Theme</vt:lpstr>
      <vt:lpstr>Prezentacja programu PowerPoint</vt:lpstr>
      <vt:lpstr>Instructions General</vt:lpstr>
      <vt:lpstr>Prezentacja programu PowerPoint</vt:lpstr>
      <vt:lpstr>Learning outcome #1 – Directional coupler cross-section in GDSFactory </vt:lpstr>
      <vt:lpstr>Learning outcome #1 – Directional coupler cross-section in GDSFactory </vt:lpstr>
      <vt:lpstr>Learning outcome #1 – Directional coupler cross-section in GDSFactory </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Learning outcome #2 – Directional coupler length and coupling coefficient Wavelength 1.5 µm – width 1.2 µm – gap 0.6 µm – thickness 300 nm</vt:lpstr>
      <vt:lpstr>Learning outcome #2 – Directional coupler length and coupling coefficient Wavelength 1.5 µm – width 1.2 µm – gap 0.6 µm – thickness 300 nm</vt:lpstr>
      <vt:lpstr>Learning outcome #2 – Directional coupler length and coupling coefficient Wavelength 1.5 µm – width 1.2 µm – gap 0.6 µm – thickness 300 nm</vt:lpstr>
      <vt:lpstr>Learning outcome #4 – Parallel uncoupled waveguides – TE0 mode Wavelength 1.55 µm, width 1.0 µm, gap to be found for uncoupled wvgs</vt:lpstr>
      <vt:lpstr>Prezentacja programu PowerPoint</vt:lpstr>
      <vt:lpstr>Prezentacja programu PowerPoint</vt:lpstr>
      <vt:lpstr>Learning outcome #5 – Multimode Interference (MMI) Coupler cross-section</vt:lpstr>
      <vt:lpstr>Prezentacja programu PowerPoint</vt:lpstr>
      <vt:lpstr>Prezentacja programu PowerPoint</vt:lpstr>
      <vt:lpstr>Learning outcome #6 – 6.1 2x2 Multimode Interference Coupler  Wavelength 1.55 µm, wMMI = 6.6 µm</vt:lpstr>
      <vt:lpstr>Learning outcome #6.2 – 2x2 Multimode Interference Coupler - Optimization Wavelength 1.55 µm, wMMI = 6.6 µm</vt:lpstr>
      <vt:lpstr>Learning outcome #6.3 – 2x2 Multimode Interference Coupler – Optimization (II) Wavelength 1.55 µm, wMMI = 6.6 µm</vt:lpstr>
      <vt:lpstr>Learning outcome #7 – 1x4 Multimode Interference Coupler  Wavelength 1.55 µm, wMMI = ? µm</vt:lpstr>
      <vt:lpstr>Extra #1 – Directional coupler gap dependence Wavelength 1.55 µm, width 1.0 µm, gap 0.2-2.4 µm (step 0.2 µm) </vt:lpstr>
      <vt:lpstr>Extra #2 – Directional wavelength dependence Wavelengths from 1.5 to 1.7 µm, gap = 0.6 µm, width 1.0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Antoni Piałucha (275411)</cp:lastModifiedBy>
  <cp:revision>18</cp:revision>
  <dcterms:created xsi:type="dcterms:W3CDTF">2025-01-27T02:46:57Z</dcterms:created>
  <dcterms:modified xsi:type="dcterms:W3CDTF">2026-04-29T09:05:07Z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